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67" r:id="rId4"/>
    <p:sldId id="268" r:id="rId5"/>
    <p:sldId id="269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12446000"/>
  <p:notesSz cx="12192000" cy="1244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946" y="-15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403538"/>
            <a:ext cx="9715500" cy="1628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F395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4341876"/>
            <a:ext cx="8001000" cy="1938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783270"/>
            <a:ext cx="4972050" cy="51172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783270"/>
            <a:ext cx="4972050" cy="51172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1F395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2635"/>
            <a:ext cx="10515600" cy="6001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313171"/>
            <a:ext cx="10515600" cy="14773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11535599"/>
            <a:ext cx="2743200" cy="276999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11535599"/>
            <a:ext cx="411480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11535599"/>
            <a:ext cx="2743200" cy="276999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63550"/>
            <a:ext cx="818070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1F395F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200" y="2945638"/>
            <a:ext cx="5267325" cy="2472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7210615"/>
            <a:ext cx="36576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7210615"/>
            <a:ext cx="26289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7210615"/>
            <a:ext cx="2628900" cy="387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8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29056" y="4462145"/>
            <a:ext cx="9230995" cy="2192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zh-CN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               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🌿</a:t>
            </a:r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 WellBot  </a:t>
            </a:r>
            <a:endParaRPr lang="en-US" altLang="en-US" sz="36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  <a:p>
            <a:r>
              <a:rPr lang="en-US" altLang="en-US" sz="36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AI Powered Wellness Chatbot Platform</a:t>
            </a:r>
            <a:endParaRPr lang="en-US" altLang="en-US" sz="36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6" t="16393" r="16918" b="19542"/>
          <a:stretch>
            <a:fillRect/>
          </a:stretch>
        </p:blipFill>
        <p:spPr>
          <a:xfrm>
            <a:off x="3715588" y="6222819"/>
            <a:ext cx="4668714" cy="252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52476" y="4869180"/>
            <a:ext cx="72155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8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GROUP MEMBERS NAME</a:t>
            </a:r>
            <a:endParaRPr lang="en-IN" altLang="en-US" sz="2800" b="1" u="sng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34770" y="5887721"/>
            <a:ext cx="57086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1.  Avinash (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2.  Harika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3.  Sameer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4.  Sakshi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5.  Tejaswini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  <a:p>
            <a:r>
              <a:rPr lang="en-IN" altLang="en-US">
                <a:latin typeface="Afacad Flux" pitchFamily="34" charset="0"/>
                <a:cs typeface="Afacad Flux" pitchFamily="34" charset="0"/>
              </a:rPr>
              <a:t>6.  Apeksha</a:t>
            </a:r>
            <a:endParaRPr lang="en-IN" altLang="en-US">
              <a:latin typeface="Afacad Flux" pitchFamily="34" charset="0"/>
              <a:cs typeface="Afacad Flux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5796" y="3977005"/>
            <a:ext cx="7087235" cy="1107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3200" b="1" u="sng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Batch number 13 // TEAM A</a:t>
            </a:r>
            <a:endParaRPr lang="en-IN" altLang="en-US" sz="3200" b="1" u="sng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62150" y="3585210"/>
            <a:ext cx="857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290445" y="3585210"/>
            <a:ext cx="5899150" cy="1258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000" b="1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Project Overview</a:t>
            </a:r>
            <a:endParaRPr lang="en-US" altLang="en-US" sz="4000" b="1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04926" y="5420996"/>
            <a:ext cx="727773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What the system does: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/>
              <a:t> 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AI-based wellness assistant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Chatbot for health guidance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Prescription image analysis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User wellness dashboard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Admin monitoring system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</p:txBody>
      </p:sp>
      <p:pic>
        <p:nvPicPr>
          <p:cNvPr id="9" name="Picture Placeholder 17" descr="A person drawing on a white board"/>
          <p:cNvPicPr>
            <a:picLocks noGrp="1"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4806" y="5120641"/>
            <a:ext cx="3456305" cy="3456305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4670" y="3823336"/>
            <a:ext cx="10515600" cy="615553"/>
          </a:xfrm>
        </p:spPr>
        <p:txBody>
          <a:bodyPr/>
          <a:lstStyle/>
          <a:p>
            <a:r>
              <a:rPr lang="en-US" altLang="en-US" sz="4000">
                <a:solidFill>
                  <a:schemeClr val="accent1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Problem Statement</a:t>
            </a:r>
            <a:endParaRPr lang="en-US" altLang="en-US" sz="4000">
              <a:solidFill>
                <a:schemeClr val="accent1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4670" y="5909946"/>
            <a:ext cx="10709910" cy="1846659"/>
          </a:xfrm>
        </p:spPr>
        <p:txBody>
          <a:bodyPr/>
          <a:lstStyle/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People struggle to understand prescriptions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Limited access to quick health advice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No centralized AI wellness platform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en-US" sz="1800">
                <a:solidFill>
                  <a:schemeClr val="accent1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Lack of personalized health tracking</a:t>
            </a:r>
            <a:endParaRPr lang="en-US" altLang="en-US" sz="1800">
              <a:solidFill>
                <a:schemeClr val="accent1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5" t="26894" r="3920" b="37397"/>
          <a:stretch>
            <a:fillRect/>
          </a:stretch>
        </p:blipFill>
        <p:spPr>
          <a:xfrm>
            <a:off x="6371649" y="5388610"/>
            <a:ext cx="5373066" cy="3096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z="3350" spc="2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WellBot</a:t>
            </a:r>
            <a:r>
              <a:rPr sz="3350" spc="-30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-17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–</a:t>
            </a:r>
            <a:r>
              <a:rPr sz="3350" spc="-4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-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3350" spc="-2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2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Powered</a:t>
            </a:r>
            <a:r>
              <a:rPr sz="3350" spc="-3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2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Wellness </a:t>
            </a:r>
            <a:r>
              <a:rPr sz="3350" spc="4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Chatbot</a:t>
            </a:r>
            <a:r>
              <a:rPr sz="3350" spc="-2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3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Platform</a:t>
            </a:r>
            <a:endParaRPr sz="3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831340"/>
            <a:ext cx="1005205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000"/>
              </a:lnSpc>
              <a:spcBef>
                <a:spcPts val="100"/>
              </a:spcBef>
            </a:pPr>
            <a:r>
              <a:rPr sz="1350" spc="-9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intelligent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assistant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combining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AI-</a:t>
            </a:r>
            <a:r>
              <a:rPr sz="1350" spc="-7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powered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chatbot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technology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advanced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analysis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capabilities.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WellBot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provides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users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instant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access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guidance,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symptom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assessment,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personalized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monitoring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through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secure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intuitive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platform.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2905125"/>
            <a:ext cx="3295650" cy="2228850"/>
            <a:chOff x="600075" y="2905125"/>
            <a:chExt cx="3295650" cy="2228850"/>
          </a:xfrm>
        </p:grpSpPr>
        <p:sp>
          <p:nvSpPr>
            <p:cNvPr id="5" name="object 5"/>
            <p:cNvSpPr/>
            <p:nvPr/>
          </p:nvSpPr>
          <p:spPr>
            <a:xfrm>
              <a:off x="6048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25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25" y="2219324"/>
                  </a:lnTo>
                  <a:lnTo>
                    <a:pt x="48031" y="2218969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10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7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69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4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23925" y="3242589"/>
              <a:ext cx="231432" cy="1855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8350" y="3754437"/>
            <a:ext cx="2924175" cy="1169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356995">
              <a:lnSpc>
                <a:spcPct val="1060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1650" b="1" spc="-1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Wellness </a:t>
            </a:r>
            <a:r>
              <a:rPr sz="1650" b="1" spc="20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Assistant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0000"/>
              </a:lnSpc>
              <a:spcBef>
                <a:spcPts val="69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Conversational</a:t>
            </a:r>
            <a:r>
              <a:rPr sz="1350" spc="-1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chatbot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providing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instant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guidance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support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5" y="2905125"/>
            <a:ext cx="3295650" cy="2228850"/>
            <a:chOff x="4067175" y="2905125"/>
            <a:chExt cx="3295650" cy="2228850"/>
          </a:xfrm>
        </p:grpSpPr>
        <p:sp>
          <p:nvSpPr>
            <p:cNvPr id="10" name="object 10"/>
            <p:cNvSpPr/>
            <p:nvPr/>
          </p:nvSpPr>
          <p:spPr>
            <a:xfrm>
              <a:off x="40719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12" y="2219324"/>
                  </a:lnTo>
                  <a:lnTo>
                    <a:pt x="48031" y="2218969"/>
                  </a:lnTo>
                  <a:lnTo>
                    <a:pt x="44462" y="2218258"/>
                  </a:lnTo>
                  <a:lnTo>
                    <a:pt x="40906" y="2217547"/>
                  </a:lnTo>
                  <a:lnTo>
                    <a:pt x="37452" y="2216505"/>
                  </a:lnTo>
                  <a:lnTo>
                    <a:pt x="34099" y="2215121"/>
                  </a:lnTo>
                  <a:lnTo>
                    <a:pt x="30746" y="2213736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481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4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78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6359" y="3212490"/>
              <a:ext cx="221246" cy="24395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35450" y="3754437"/>
            <a:ext cx="290258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Prescription</a:t>
            </a:r>
            <a:r>
              <a:rPr sz="1650" b="1" spc="-20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Analysis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9690">
              <a:lnSpc>
                <a:spcPct val="130000"/>
              </a:lnSpc>
              <a:spcBef>
                <a:spcPts val="69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Intelligent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image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recognition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medication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prescription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review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34275" y="2905125"/>
            <a:ext cx="3295650" cy="2228850"/>
            <a:chOff x="7534275" y="2905125"/>
            <a:chExt cx="3295650" cy="2228850"/>
          </a:xfrm>
        </p:grpSpPr>
        <p:sp>
          <p:nvSpPr>
            <p:cNvPr id="15" name="object 15"/>
            <p:cNvSpPr/>
            <p:nvPr/>
          </p:nvSpPr>
          <p:spPr>
            <a:xfrm>
              <a:off x="7539037" y="2909887"/>
              <a:ext cx="3286125" cy="2219325"/>
            </a:xfrm>
            <a:custGeom>
              <a:avLst/>
              <a:gdLst/>
              <a:ahLst/>
              <a:cxnLst/>
              <a:rect l="l" t="t" r="r" b="b"/>
              <a:pathLst>
                <a:path w="3286125" h="2219325">
                  <a:moveTo>
                    <a:pt x="0" y="2164079"/>
                  </a:moveTo>
                  <a:lnTo>
                    <a:pt x="0" y="55244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79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31"/>
                  </a:lnTo>
                  <a:lnTo>
                    <a:pt x="3286125" y="51612"/>
                  </a:lnTo>
                  <a:lnTo>
                    <a:pt x="3286125" y="55244"/>
                  </a:lnTo>
                  <a:lnTo>
                    <a:pt x="3286125" y="2164079"/>
                  </a:lnTo>
                  <a:lnTo>
                    <a:pt x="3286125" y="2167699"/>
                  </a:lnTo>
                  <a:lnTo>
                    <a:pt x="3285769" y="2171306"/>
                  </a:lnTo>
                  <a:lnTo>
                    <a:pt x="3285058" y="2174862"/>
                  </a:lnTo>
                  <a:lnTo>
                    <a:pt x="3284359" y="2178418"/>
                  </a:lnTo>
                  <a:lnTo>
                    <a:pt x="3269945" y="2203145"/>
                  </a:lnTo>
                  <a:lnTo>
                    <a:pt x="3267379" y="2205710"/>
                  </a:lnTo>
                  <a:lnTo>
                    <a:pt x="3264585" y="2207996"/>
                  </a:lnTo>
                  <a:lnTo>
                    <a:pt x="3261563" y="2210015"/>
                  </a:lnTo>
                  <a:lnTo>
                    <a:pt x="3258553" y="2212035"/>
                  </a:lnTo>
                  <a:lnTo>
                    <a:pt x="3255378" y="2213736"/>
                  </a:lnTo>
                  <a:lnTo>
                    <a:pt x="3252012" y="2215121"/>
                  </a:lnTo>
                  <a:lnTo>
                    <a:pt x="3248672" y="2216505"/>
                  </a:lnTo>
                  <a:lnTo>
                    <a:pt x="3245218" y="2217547"/>
                  </a:lnTo>
                  <a:lnTo>
                    <a:pt x="3241649" y="2218258"/>
                  </a:lnTo>
                  <a:lnTo>
                    <a:pt x="3238093" y="2218969"/>
                  </a:lnTo>
                  <a:lnTo>
                    <a:pt x="3234512" y="2219324"/>
                  </a:lnTo>
                  <a:lnTo>
                    <a:pt x="3230879" y="2219324"/>
                  </a:lnTo>
                  <a:lnTo>
                    <a:pt x="55245" y="2219324"/>
                  </a:lnTo>
                  <a:lnTo>
                    <a:pt x="51612" y="2219324"/>
                  </a:lnTo>
                  <a:lnTo>
                    <a:pt x="48018" y="2218969"/>
                  </a:lnTo>
                  <a:lnTo>
                    <a:pt x="16179" y="2203145"/>
                  </a:lnTo>
                  <a:lnTo>
                    <a:pt x="13614" y="2200579"/>
                  </a:lnTo>
                  <a:lnTo>
                    <a:pt x="1066" y="2174862"/>
                  </a:lnTo>
                  <a:lnTo>
                    <a:pt x="355" y="2171306"/>
                  </a:lnTo>
                  <a:lnTo>
                    <a:pt x="0" y="2167699"/>
                  </a:lnTo>
                  <a:lnTo>
                    <a:pt x="0" y="2164079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715250" y="30861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79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4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78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44"/>
                  </a:lnTo>
                  <a:lnTo>
                    <a:pt x="299084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3000" y="3225387"/>
              <a:ext cx="241680" cy="21993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702550" y="3754437"/>
            <a:ext cx="281305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Wellness</a:t>
            </a:r>
            <a:r>
              <a:rPr sz="1650" b="1" spc="-13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Dashboard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183515">
              <a:lnSpc>
                <a:spcPct val="130000"/>
              </a:lnSpc>
              <a:spcBef>
                <a:spcPts val="69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Personalized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tracking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analytics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5" y="5305425"/>
            <a:ext cx="5029200" cy="1971675"/>
            <a:chOff x="600075" y="5305425"/>
            <a:chExt cx="5029200" cy="1971675"/>
          </a:xfrm>
        </p:grpSpPr>
        <p:sp>
          <p:nvSpPr>
            <p:cNvPr id="20" name="object 20"/>
            <p:cNvSpPr/>
            <p:nvPr/>
          </p:nvSpPr>
          <p:spPr>
            <a:xfrm>
              <a:off x="604837" y="53101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25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212" y="1066"/>
                  </a:lnTo>
                  <a:lnTo>
                    <a:pt x="4978768" y="1765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31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5"/>
                  </a:lnTo>
                  <a:lnTo>
                    <a:pt x="5019675" y="1910524"/>
                  </a:lnTo>
                  <a:lnTo>
                    <a:pt x="5019319" y="1914118"/>
                  </a:lnTo>
                  <a:lnTo>
                    <a:pt x="5018608" y="1917687"/>
                  </a:lnTo>
                  <a:lnTo>
                    <a:pt x="5017909" y="1921243"/>
                  </a:lnTo>
                  <a:lnTo>
                    <a:pt x="5003495" y="1945970"/>
                  </a:lnTo>
                  <a:lnTo>
                    <a:pt x="5000929" y="1948535"/>
                  </a:lnTo>
                  <a:lnTo>
                    <a:pt x="4985562" y="1957946"/>
                  </a:lnTo>
                  <a:lnTo>
                    <a:pt x="4982222" y="1959330"/>
                  </a:lnTo>
                  <a:lnTo>
                    <a:pt x="4978768" y="1960372"/>
                  </a:lnTo>
                  <a:lnTo>
                    <a:pt x="4975199" y="1961083"/>
                  </a:lnTo>
                  <a:lnTo>
                    <a:pt x="4971643" y="1961794"/>
                  </a:lnTo>
                  <a:lnTo>
                    <a:pt x="4968062" y="1962150"/>
                  </a:lnTo>
                  <a:lnTo>
                    <a:pt x="4964430" y="1962150"/>
                  </a:lnTo>
                  <a:lnTo>
                    <a:pt x="55245" y="1962150"/>
                  </a:lnTo>
                  <a:lnTo>
                    <a:pt x="51625" y="1962150"/>
                  </a:lnTo>
                  <a:lnTo>
                    <a:pt x="48031" y="1961794"/>
                  </a:lnTo>
                  <a:lnTo>
                    <a:pt x="16179" y="1945970"/>
                  </a:lnTo>
                  <a:lnTo>
                    <a:pt x="13614" y="1943404"/>
                  </a:lnTo>
                  <a:lnTo>
                    <a:pt x="1066" y="1917687"/>
                  </a:lnTo>
                  <a:lnTo>
                    <a:pt x="355" y="1914118"/>
                  </a:lnTo>
                  <a:lnTo>
                    <a:pt x="0" y="1910524"/>
                  </a:lnTo>
                  <a:lnTo>
                    <a:pt x="0" y="1906905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81050" y="54864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47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7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69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4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225" y="5624150"/>
              <a:ext cx="198831" cy="24168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68350" y="6154737"/>
            <a:ext cx="458978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Symptom</a:t>
            </a:r>
            <a:r>
              <a:rPr sz="1650" b="1" spc="-13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6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Checker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4000"/>
              </a:lnSpc>
              <a:spcBef>
                <a:spcPts val="615"/>
              </a:spcBef>
            </a:pP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AI-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powered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symptom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assessment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preliminary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 analysis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00725" y="5305425"/>
            <a:ext cx="5029200" cy="1971675"/>
            <a:chOff x="5800725" y="5305425"/>
            <a:chExt cx="5029200" cy="1971675"/>
          </a:xfrm>
        </p:grpSpPr>
        <p:sp>
          <p:nvSpPr>
            <p:cNvPr id="25" name="object 25"/>
            <p:cNvSpPr/>
            <p:nvPr/>
          </p:nvSpPr>
          <p:spPr>
            <a:xfrm>
              <a:off x="5805487" y="53101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7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31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1906905"/>
                  </a:lnTo>
                  <a:lnTo>
                    <a:pt x="5019675" y="1910524"/>
                  </a:lnTo>
                  <a:lnTo>
                    <a:pt x="5019319" y="1914118"/>
                  </a:lnTo>
                  <a:lnTo>
                    <a:pt x="5018608" y="1917687"/>
                  </a:lnTo>
                  <a:lnTo>
                    <a:pt x="5017909" y="1921243"/>
                  </a:lnTo>
                  <a:lnTo>
                    <a:pt x="5003495" y="1945970"/>
                  </a:lnTo>
                  <a:lnTo>
                    <a:pt x="5000929" y="1948535"/>
                  </a:lnTo>
                  <a:lnTo>
                    <a:pt x="4998135" y="1950821"/>
                  </a:lnTo>
                  <a:lnTo>
                    <a:pt x="4995113" y="1952840"/>
                  </a:lnTo>
                  <a:lnTo>
                    <a:pt x="4992103" y="1954860"/>
                  </a:lnTo>
                  <a:lnTo>
                    <a:pt x="4988928" y="1956562"/>
                  </a:lnTo>
                  <a:lnTo>
                    <a:pt x="4985562" y="1957946"/>
                  </a:lnTo>
                  <a:lnTo>
                    <a:pt x="4982222" y="1959330"/>
                  </a:lnTo>
                  <a:lnTo>
                    <a:pt x="4978768" y="1960372"/>
                  </a:lnTo>
                  <a:lnTo>
                    <a:pt x="4975199" y="1961083"/>
                  </a:lnTo>
                  <a:lnTo>
                    <a:pt x="4971643" y="1961794"/>
                  </a:lnTo>
                  <a:lnTo>
                    <a:pt x="4968062" y="1962150"/>
                  </a:lnTo>
                  <a:lnTo>
                    <a:pt x="4964430" y="1962150"/>
                  </a:lnTo>
                  <a:lnTo>
                    <a:pt x="55245" y="1962150"/>
                  </a:lnTo>
                  <a:lnTo>
                    <a:pt x="51612" y="1962150"/>
                  </a:lnTo>
                  <a:lnTo>
                    <a:pt x="48018" y="1961794"/>
                  </a:lnTo>
                  <a:lnTo>
                    <a:pt x="44462" y="1961083"/>
                  </a:lnTo>
                  <a:lnTo>
                    <a:pt x="40906" y="1960372"/>
                  </a:lnTo>
                  <a:lnTo>
                    <a:pt x="37452" y="1959330"/>
                  </a:lnTo>
                  <a:lnTo>
                    <a:pt x="34099" y="1957946"/>
                  </a:lnTo>
                  <a:lnTo>
                    <a:pt x="30746" y="1956562"/>
                  </a:lnTo>
                  <a:lnTo>
                    <a:pt x="16179" y="1945970"/>
                  </a:lnTo>
                  <a:lnTo>
                    <a:pt x="13614" y="1943404"/>
                  </a:lnTo>
                  <a:lnTo>
                    <a:pt x="1066" y="1917687"/>
                  </a:lnTo>
                  <a:lnTo>
                    <a:pt x="355" y="1914118"/>
                  </a:lnTo>
                  <a:lnTo>
                    <a:pt x="0" y="1910524"/>
                  </a:lnTo>
                  <a:lnTo>
                    <a:pt x="0" y="1906905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981700" y="54864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47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4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9272" y="5636406"/>
              <a:ext cx="241846" cy="21717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69000" y="6154737"/>
            <a:ext cx="453199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Admin</a:t>
            </a:r>
            <a:r>
              <a:rPr sz="1650" b="1" spc="-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Monitoring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4000"/>
              </a:lnSpc>
              <a:spcBef>
                <a:spcPts val="615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Comprehensive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system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oversight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management tools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56489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3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3350" spc="-4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3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Architecture</a:t>
            </a:r>
            <a:endParaRPr sz="3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297940"/>
            <a:ext cx="97364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100"/>
              </a:spcBef>
            </a:pPr>
            <a:r>
              <a:rPr sz="13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WellBot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employs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hybrid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architecture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that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combines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multiple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language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models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scalable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database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infrastructure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to deliver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reliable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healthcare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assistance.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1771" y="2225382"/>
            <a:ext cx="2398395" cy="1646555"/>
            <a:chOff x="5991771" y="2225382"/>
            <a:chExt cx="2398395" cy="1646555"/>
          </a:xfrm>
        </p:grpSpPr>
        <p:sp>
          <p:nvSpPr>
            <p:cNvPr id="5" name="object 5"/>
            <p:cNvSpPr/>
            <p:nvPr/>
          </p:nvSpPr>
          <p:spPr>
            <a:xfrm>
              <a:off x="5996533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224938" y="0"/>
                  </a:moveTo>
                  <a:lnTo>
                    <a:pt x="301777" y="0"/>
                  </a:lnTo>
                  <a:lnTo>
                    <a:pt x="258260" y="5846"/>
                  </a:lnTo>
                  <a:lnTo>
                    <a:pt x="219159" y="22346"/>
                  </a:lnTo>
                  <a:lnTo>
                    <a:pt x="186034" y="47939"/>
                  </a:lnTo>
                  <a:lnTo>
                    <a:pt x="160443" y="81065"/>
                  </a:lnTo>
                  <a:lnTo>
                    <a:pt x="143945" y="120164"/>
                  </a:lnTo>
                  <a:lnTo>
                    <a:pt x="138099" y="163677"/>
                  </a:lnTo>
                  <a:lnTo>
                    <a:pt x="138099" y="1462785"/>
                  </a:lnTo>
                  <a:lnTo>
                    <a:pt x="0" y="1636737"/>
                  </a:lnTo>
                  <a:lnTo>
                    <a:pt x="281317" y="1636737"/>
                  </a:lnTo>
                  <a:lnTo>
                    <a:pt x="281317" y="1635467"/>
                  </a:lnTo>
                  <a:lnTo>
                    <a:pt x="288010" y="1636306"/>
                  </a:lnTo>
                  <a:lnTo>
                    <a:pt x="294830" y="1636737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96533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301777" y="1636737"/>
                  </a:moveTo>
                  <a:lnTo>
                    <a:pt x="294830" y="1636737"/>
                  </a:lnTo>
                  <a:lnTo>
                    <a:pt x="288010" y="1636306"/>
                  </a:lnTo>
                  <a:lnTo>
                    <a:pt x="281317" y="1635467"/>
                  </a:lnTo>
                  <a:lnTo>
                    <a:pt x="281317" y="1636737"/>
                  </a:lnTo>
                  <a:lnTo>
                    <a:pt x="0" y="1636737"/>
                  </a:lnTo>
                  <a:lnTo>
                    <a:pt x="138099" y="1462785"/>
                  </a:lnTo>
                  <a:lnTo>
                    <a:pt x="138099" y="163677"/>
                  </a:lnTo>
                  <a:lnTo>
                    <a:pt x="143946" y="120164"/>
                  </a:lnTo>
                  <a:lnTo>
                    <a:pt x="160446" y="81065"/>
                  </a:lnTo>
                  <a:lnTo>
                    <a:pt x="186039" y="47939"/>
                  </a:lnTo>
                  <a:lnTo>
                    <a:pt x="219165" y="22346"/>
                  </a:lnTo>
                  <a:lnTo>
                    <a:pt x="258264" y="5846"/>
                  </a:lnTo>
                  <a:lnTo>
                    <a:pt x="301777" y="0"/>
                  </a:lnTo>
                  <a:lnTo>
                    <a:pt x="2224938" y="0"/>
                  </a:lnTo>
                  <a:lnTo>
                    <a:pt x="2268445" y="5846"/>
                  </a:lnTo>
                  <a:lnTo>
                    <a:pt x="2307541" y="22346"/>
                  </a:lnTo>
                  <a:lnTo>
                    <a:pt x="2340665" y="47939"/>
                  </a:lnTo>
                  <a:lnTo>
                    <a:pt x="2366257" y="81065"/>
                  </a:lnTo>
                  <a:lnTo>
                    <a:pt x="2382756" y="120164"/>
                  </a:lnTo>
                  <a:lnTo>
                    <a:pt x="2388603" y="163677"/>
                  </a:lnTo>
                  <a:lnTo>
                    <a:pt x="2388603" y="1473060"/>
                  </a:lnTo>
                  <a:lnTo>
                    <a:pt x="2382756" y="1516572"/>
                  </a:lnTo>
                  <a:lnTo>
                    <a:pt x="2366257" y="1555672"/>
                  </a:lnTo>
                  <a:lnTo>
                    <a:pt x="2340665" y="1588798"/>
                  </a:lnTo>
                  <a:lnTo>
                    <a:pt x="2307541" y="1614391"/>
                  </a:lnTo>
                  <a:lnTo>
                    <a:pt x="2268445" y="1630891"/>
                  </a:lnTo>
                  <a:lnTo>
                    <a:pt x="2224938" y="1636737"/>
                  </a:lnTo>
                  <a:lnTo>
                    <a:pt x="301777" y="1636737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014954" y="2225382"/>
            <a:ext cx="2398395" cy="1646555"/>
            <a:chOff x="3014954" y="2225382"/>
            <a:chExt cx="2398395" cy="1646555"/>
          </a:xfrm>
        </p:grpSpPr>
        <p:sp>
          <p:nvSpPr>
            <p:cNvPr id="8" name="object 8"/>
            <p:cNvSpPr/>
            <p:nvPr/>
          </p:nvSpPr>
          <p:spPr>
            <a:xfrm>
              <a:off x="3019717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0"/>
                  </a:move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lnTo>
                    <a:pt x="2093760" y="1636737"/>
                  </a:lnTo>
                  <a:lnTo>
                    <a:pt x="2100605" y="1636306"/>
                  </a:lnTo>
                  <a:lnTo>
                    <a:pt x="2107298" y="1635467"/>
                  </a:lnTo>
                  <a:lnTo>
                    <a:pt x="2107298" y="1636737"/>
                  </a:lnTo>
                  <a:lnTo>
                    <a:pt x="2388616" y="1636737"/>
                  </a:lnTo>
                  <a:lnTo>
                    <a:pt x="2250516" y="1462785"/>
                  </a:lnTo>
                  <a:lnTo>
                    <a:pt x="2250516" y="163677"/>
                  </a:lnTo>
                  <a:lnTo>
                    <a:pt x="2244668" y="120164"/>
                  </a:lnTo>
                  <a:lnTo>
                    <a:pt x="2228167" y="81065"/>
                  </a:lnTo>
                  <a:lnTo>
                    <a:pt x="2202572" y="47939"/>
                  </a:lnTo>
                  <a:lnTo>
                    <a:pt x="2169445" y="22346"/>
                  </a:lnTo>
                  <a:lnTo>
                    <a:pt x="2130346" y="5846"/>
                  </a:lnTo>
                  <a:lnTo>
                    <a:pt x="20868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19717" y="2230145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1636737"/>
                  </a:moveTo>
                  <a:lnTo>
                    <a:pt x="2093760" y="1636737"/>
                  </a:lnTo>
                  <a:lnTo>
                    <a:pt x="2100605" y="1636306"/>
                  </a:lnTo>
                  <a:lnTo>
                    <a:pt x="2107298" y="1635467"/>
                  </a:lnTo>
                  <a:lnTo>
                    <a:pt x="2107298" y="1636737"/>
                  </a:lnTo>
                  <a:lnTo>
                    <a:pt x="2388616" y="1636737"/>
                  </a:lnTo>
                  <a:lnTo>
                    <a:pt x="2250516" y="1462785"/>
                  </a:lnTo>
                  <a:lnTo>
                    <a:pt x="2250516" y="163677"/>
                  </a:lnTo>
                  <a:lnTo>
                    <a:pt x="2244668" y="120164"/>
                  </a:lnTo>
                  <a:lnTo>
                    <a:pt x="2228167" y="81065"/>
                  </a:lnTo>
                  <a:lnTo>
                    <a:pt x="2202572" y="47939"/>
                  </a:lnTo>
                  <a:lnTo>
                    <a:pt x="2169445" y="22346"/>
                  </a:lnTo>
                  <a:lnTo>
                    <a:pt x="2130346" y="5846"/>
                  </a:lnTo>
                  <a:lnTo>
                    <a:pt x="2086838" y="0"/>
                  </a:ln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014954" y="5877343"/>
            <a:ext cx="2398395" cy="1646555"/>
            <a:chOff x="3014954" y="5877343"/>
            <a:chExt cx="2398395" cy="1646555"/>
          </a:xfrm>
        </p:grpSpPr>
        <p:sp>
          <p:nvSpPr>
            <p:cNvPr id="11" name="object 11"/>
            <p:cNvSpPr/>
            <p:nvPr/>
          </p:nvSpPr>
          <p:spPr>
            <a:xfrm>
              <a:off x="3019717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388616" y="0"/>
                  </a:moveTo>
                  <a:lnTo>
                    <a:pt x="2107298" y="0"/>
                  </a:lnTo>
                  <a:lnTo>
                    <a:pt x="2107298" y="1269"/>
                  </a:lnTo>
                  <a:lnTo>
                    <a:pt x="2100605" y="431"/>
                  </a:lnTo>
                  <a:lnTo>
                    <a:pt x="2093760" y="0"/>
                  </a:lnTo>
                  <a:lnTo>
                    <a:pt x="2086838" y="0"/>
                  </a:lnTo>
                  <a:lnTo>
                    <a:pt x="163677" y="0"/>
                  </a:lnTo>
                  <a:lnTo>
                    <a:pt x="120164" y="5846"/>
                  </a:lnTo>
                  <a:lnTo>
                    <a:pt x="81065" y="22346"/>
                  </a:lnTo>
                  <a:lnTo>
                    <a:pt x="47939" y="47939"/>
                  </a:lnTo>
                  <a:lnTo>
                    <a:pt x="22346" y="81065"/>
                  </a:lnTo>
                  <a:lnTo>
                    <a:pt x="5846" y="120164"/>
                  </a:lnTo>
                  <a:lnTo>
                    <a:pt x="0" y="163677"/>
                  </a:lnTo>
                  <a:lnTo>
                    <a:pt x="0" y="1473060"/>
                  </a:lnTo>
                  <a:lnTo>
                    <a:pt x="5846" y="1516572"/>
                  </a:lnTo>
                  <a:lnTo>
                    <a:pt x="22346" y="1555672"/>
                  </a:lnTo>
                  <a:lnTo>
                    <a:pt x="47939" y="1588798"/>
                  </a:lnTo>
                  <a:lnTo>
                    <a:pt x="81065" y="1614391"/>
                  </a:lnTo>
                  <a:lnTo>
                    <a:pt x="120164" y="1630891"/>
                  </a:lnTo>
                  <a:lnTo>
                    <a:pt x="163677" y="1636737"/>
                  </a:lnTo>
                  <a:lnTo>
                    <a:pt x="2086838" y="1636737"/>
                  </a:lnTo>
                  <a:lnTo>
                    <a:pt x="2130346" y="1630891"/>
                  </a:lnTo>
                  <a:lnTo>
                    <a:pt x="2169445" y="1614391"/>
                  </a:lnTo>
                  <a:lnTo>
                    <a:pt x="2202572" y="1588798"/>
                  </a:lnTo>
                  <a:lnTo>
                    <a:pt x="2228167" y="1555672"/>
                  </a:lnTo>
                  <a:lnTo>
                    <a:pt x="2244668" y="1516572"/>
                  </a:lnTo>
                  <a:lnTo>
                    <a:pt x="2250516" y="1473060"/>
                  </a:lnTo>
                  <a:lnTo>
                    <a:pt x="2250516" y="173951"/>
                  </a:lnTo>
                  <a:lnTo>
                    <a:pt x="2388616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19717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086838" y="0"/>
                  </a:moveTo>
                  <a:lnTo>
                    <a:pt x="2093760" y="0"/>
                  </a:lnTo>
                  <a:lnTo>
                    <a:pt x="2100605" y="431"/>
                  </a:lnTo>
                  <a:lnTo>
                    <a:pt x="2107298" y="1269"/>
                  </a:lnTo>
                  <a:lnTo>
                    <a:pt x="2107298" y="0"/>
                  </a:lnTo>
                  <a:lnTo>
                    <a:pt x="2388616" y="0"/>
                  </a:lnTo>
                  <a:lnTo>
                    <a:pt x="2250516" y="173951"/>
                  </a:lnTo>
                  <a:lnTo>
                    <a:pt x="2250516" y="1473060"/>
                  </a:lnTo>
                  <a:lnTo>
                    <a:pt x="2244668" y="1516572"/>
                  </a:lnTo>
                  <a:lnTo>
                    <a:pt x="2228167" y="1555672"/>
                  </a:lnTo>
                  <a:lnTo>
                    <a:pt x="2202572" y="1588798"/>
                  </a:lnTo>
                  <a:lnTo>
                    <a:pt x="2169445" y="1614391"/>
                  </a:lnTo>
                  <a:lnTo>
                    <a:pt x="2130346" y="1630891"/>
                  </a:lnTo>
                  <a:lnTo>
                    <a:pt x="2086838" y="1636737"/>
                  </a:lnTo>
                  <a:lnTo>
                    <a:pt x="163677" y="1636737"/>
                  </a:lnTo>
                  <a:lnTo>
                    <a:pt x="120164" y="1630891"/>
                  </a:lnTo>
                  <a:lnTo>
                    <a:pt x="81065" y="1614391"/>
                  </a:lnTo>
                  <a:lnTo>
                    <a:pt x="47939" y="1588798"/>
                  </a:lnTo>
                  <a:lnTo>
                    <a:pt x="22346" y="1555672"/>
                  </a:lnTo>
                  <a:lnTo>
                    <a:pt x="5846" y="1516572"/>
                  </a:lnTo>
                  <a:lnTo>
                    <a:pt x="0" y="1473060"/>
                  </a:lnTo>
                  <a:lnTo>
                    <a:pt x="0" y="163677"/>
                  </a:lnTo>
                  <a:lnTo>
                    <a:pt x="5846" y="120164"/>
                  </a:lnTo>
                  <a:lnTo>
                    <a:pt x="22346" y="81065"/>
                  </a:lnTo>
                  <a:lnTo>
                    <a:pt x="47939" y="47939"/>
                  </a:lnTo>
                  <a:lnTo>
                    <a:pt x="81065" y="22346"/>
                  </a:lnTo>
                  <a:lnTo>
                    <a:pt x="120164" y="5846"/>
                  </a:lnTo>
                  <a:lnTo>
                    <a:pt x="163677" y="0"/>
                  </a:lnTo>
                  <a:lnTo>
                    <a:pt x="2086838" y="0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991771" y="5877343"/>
            <a:ext cx="2398395" cy="1646555"/>
            <a:chOff x="5991771" y="5877343"/>
            <a:chExt cx="2398395" cy="1646555"/>
          </a:xfrm>
        </p:grpSpPr>
        <p:sp>
          <p:nvSpPr>
            <p:cNvPr id="14" name="object 14"/>
            <p:cNvSpPr/>
            <p:nvPr/>
          </p:nvSpPr>
          <p:spPr>
            <a:xfrm>
              <a:off x="5996533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2224938" y="0"/>
                  </a:moveTo>
                  <a:lnTo>
                    <a:pt x="301777" y="0"/>
                  </a:lnTo>
                  <a:lnTo>
                    <a:pt x="294830" y="0"/>
                  </a:lnTo>
                  <a:lnTo>
                    <a:pt x="288010" y="431"/>
                  </a:lnTo>
                  <a:lnTo>
                    <a:pt x="281317" y="1269"/>
                  </a:lnTo>
                  <a:lnTo>
                    <a:pt x="281317" y="0"/>
                  </a:lnTo>
                  <a:lnTo>
                    <a:pt x="0" y="0"/>
                  </a:lnTo>
                  <a:lnTo>
                    <a:pt x="138099" y="173951"/>
                  </a:lnTo>
                  <a:lnTo>
                    <a:pt x="138099" y="1473060"/>
                  </a:lnTo>
                  <a:lnTo>
                    <a:pt x="143945" y="1516572"/>
                  </a:lnTo>
                  <a:lnTo>
                    <a:pt x="160443" y="1555672"/>
                  </a:lnTo>
                  <a:lnTo>
                    <a:pt x="186034" y="1588798"/>
                  </a:lnTo>
                  <a:lnTo>
                    <a:pt x="219159" y="1614391"/>
                  </a:lnTo>
                  <a:lnTo>
                    <a:pt x="258260" y="1630891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close/>
                </a:path>
              </a:pathLst>
            </a:custGeom>
            <a:solidFill>
              <a:srgbClr val="83E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996533" y="5882106"/>
              <a:ext cx="2388870" cy="1637030"/>
            </a:xfrm>
            <a:custGeom>
              <a:avLst/>
              <a:gdLst/>
              <a:ahLst/>
              <a:cxnLst/>
              <a:rect l="l" t="t" r="r" b="b"/>
              <a:pathLst>
                <a:path w="2388870" h="1637029">
                  <a:moveTo>
                    <a:pt x="301777" y="0"/>
                  </a:moveTo>
                  <a:lnTo>
                    <a:pt x="294830" y="0"/>
                  </a:lnTo>
                  <a:lnTo>
                    <a:pt x="288010" y="431"/>
                  </a:lnTo>
                  <a:lnTo>
                    <a:pt x="281317" y="1269"/>
                  </a:lnTo>
                  <a:lnTo>
                    <a:pt x="281317" y="0"/>
                  </a:lnTo>
                  <a:lnTo>
                    <a:pt x="0" y="0"/>
                  </a:lnTo>
                  <a:lnTo>
                    <a:pt x="138099" y="173951"/>
                  </a:lnTo>
                  <a:lnTo>
                    <a:pt x="138099" y="1473060"/>
                  </a:lnTo>
                  <a:lnTo>
                    <a:pt x="143946" y="1516572"/>
                  </a:lnTo>
                  <a:lnTo>
                    <a:pt x="160446" y="1555672"/>
                  </a:lnTo>
                  <a:lnTo>
                    <a:pt x="186039" y="1588798"/>
                  </a:lnTo>
                  <a:lnTo>
                    <a:pt x="219165" y="1614391"/>
                  </a:lnTo>
                  <a:lnTo>
                    <a:pt x="258264" y="1630891"/>
                  </a:lnTo>
                  <a:lnTo>
                    <a:pt x="301777" y="1636737"/>
                  </a:lnTo>
                  <a:lnTo>
                    <a:pt x="2224938" y="1636737"/>
                  </a:lnTo>
                  <a:lnTo>
                    <a:pt x="2268445" y="1630891"/>
                  </a:lnTo>
                  <a:lnTo>
                    <a:pt x="2307541" y="1614391"/>
                  </a:lnTo>
                  <a:lnTo>
                    <a:pt x="2340665" y="1588798"/>
                  </a:lnTo>
                  <a:lnTo>
                    <a:pt x="2366257" y="1555672"/>
                  </a:lnTo>
                  <a:lnTo>
                    <a:pt x="2382756" y="1516572"/>
                  </a:lnTo>
                  <a:lnTo>
                    <a:pt x="2388603" y="1473060"/>
                  </a:lnTo>
                  <a:lnTo>
                    <a:pt x="2388603" y="163677"/>
                  </a:lnTo>
                  <a:lnTo>
                    <a:pt x="2382756" y="120164"/>
                  </a:lnTo>
                  <a:lnTo>
                    <a:pt x="2366257" y="81065"/>
                  </a:lnTo>
                  <a:lnTo>
                    <a:pt x="2340665" y="47939"/>
                  </a:lnTo>
                  <a:lnTo>
                    <a:pt x="2307541" y="22346"/>
                  </a:lnTo>
                  <a:lnTo>
                    <a:pt x="2268445" y="5846"/>
                  </a:lnTo>
                  <a:lnTo>
                    <a:pt x="2224938" y="0"/>
                  </a:lnTo>
                  <a:lnTo>
                    <a:pt x="301777" y="0"/>
                  </a:lnTo>
                  <a:close/>
                </a:path>
              </a:pathLst>
            </a:custGeom>
            <a:ln w="9525">
              <a:solidFill>
                <a:srgbClr val="BBDB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39720" y="4005325"/>
            <a:ext cx="6741769" cy="170764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063731" y="4258246"/>
            <a:ext cx="1275715" cy="11614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065" marR="5080" indent="-635" algn="ctr">
              <a:lnSpc>
                <a:spcPct val="104000"/>
              </a:lnSpc>
              <a:spcBef>
                <a:spcPts val="15"/>
              </a:spcBef>
            </a:pPr>
            <a:r>
              <a:rPr sz="1800" b="1" spc="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WellBot </a:t>
            </a:r>
            <a:r>
              <a:rPr sz="1800" b="1" spc="19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System </a:t>
            </a:r>
            <a:r>
              <a:rPr sz="1800" b="1" spc="1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Architec </a:t>
            </a:r>
            <a:r>
              <a:rPr sz="1800" b="1" spc="12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ture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35229" y="2468079"/>
            <a:ext cx="1821814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33680" marR="226060" indent="-635" algn="ctr">
              <a:lnSpc>
                <a:spcPct val="104000"/>
              </a:lnSpc>
              <a:spcBef>
                <a:spcPts val="15"/>
              </a:spcBef>
            </a:pPr>
            <a:r>
              <a:rPr sz="1800" b="1" spc="1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User </a:t>
            </a:r>
            <a:r>
              <a:rPr sz="1800" b="1" spc="11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Interface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2700" marR="5080" algn="ctr">
              <a:lnSpc>
                <a:spcPct val="107000"/>
              </a:lnSpc>
              <a:spcBef>
                <a:spcPts val="655"/>
              </a:spcBef>
            </a:pPr>
            <a:r>
              <a:rPr sz="14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Intuitive</a:t>
            </a:r>
            <a:r>
              <a:rPr sz="14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frontend</a:t>
            </a:r>
            <a:r>
              <a:rPr sz="14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 </a:t>
            </a:r>
            <a:r>
              <a:rPr sz="14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users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5012" y="2468079"/>
            <a:ext cx="160210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7470" marR="69850" indent="-635" algn="ctr">
              <a:lnSpc>
                <a:spcPct val="104000"/>
              </a:lnSpc>
              <a:spcBef>
                <a:spcPts val="15"/>
              </a:spcBef>
            </a:pPr>
            <a:r>
              <a:rPr sz="1800" b="1" spc="2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MongoDB </a:t>
            </a:r>
            <a:r>
              <a:rPr sz="1800" b="1" spc="2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Database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2065" marR="5080" algn="ctr">
              <a:lnSpc>
                <a:spcPct val="107000"/>
              </a:lnSpc>
              <a:spcBef>
                <a:spcPts val="655"/>
              </a:spcBef>
            </a:pPr>
            <a:r>
              <a:rPr sz="14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Stores</a:t>
            </a:r>
            <a:r>
              <a:rPr sz="14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patient</a:t>
            </a:r>
            <a:r>
              <a:rPr sz="14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 </a:t>
            </a:r>
            <a:r>
              <a:rPr sz="14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session</a:t>
            </a:r>
            <a:r>
              <a:rPr sz="1450" spc="-7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data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9226" y="6120041"/>
            <a:ext cx="153352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9700" marR="132080" algn="ctr">
              <a:lnSpc>
                <a:spcPct val="104000"/>
              </a:lnSpc>
              <a:spcBef>
                <a:spcPts val="15"/>
              </a:spcBef>
            </a:pPr>
            <a:r>
              <a:rPr sz="1800" b="1" spc="-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1800" b="1" spc="-16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1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Model </a:t>
            </a:r>
            <a:r>
              <a:rPr sz="1800" b="1" spc="1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Router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2700" marR="5080" algn="ctr">
              <a:lnSpc>
                <a:spcPct val="107000"/>
              </a:lnSpc>
              <a:spcBef>
                <a:spcPts val="655"/>
              </a:spcBef>
            </a:pP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Routes</a:t>
            </a:r>
            <a:r>
              <a:rPr sz="1450" spc="-7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queries</a:t>
            </a:r>
            <a:r>
              <a:rPr sz="1450" spc="-7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to </a:t>
            </a:r>
            <a:r>
              <a:rPr sz="14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providers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9959" y="6120041"/>
            <a:ext cx="1831975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511175">
              <a:lnSpc>
                <a:spcPct val="104000"/>
              </a:lnSpc>
              <a:spcBef>
                <a:spcPts val="15"/>
              </a:spcBef>
            </a:pPr>
            <a:r>
              <a:rPr sz="1800" b="1" spc="1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Flask </a:t>
            </a:r>
            <a:r>
              <a:rPr sz="1800" b="1" spc="18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Backend</a:t>
            </a:r>
            <a:r>
              <a:rPr sz="1800" b="1" spc="-21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API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532130" marR="159385" indent="-365760">
              <a:lnSpc>
                <a:spcPct val="107000"/>
              </a:lnSpc>
              <a:spcBef>
                <a:spcPts val="655"/>
              </a:spcBef>
            </a:pP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Handles</a:t>
            </a:r>
            <a:r>
              <a:rPr sz="1450" spc="-8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requests </a:t>
            </a:r>
            <a:r>
              <a:rPr sz="14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450" spc="-8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logic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14920" y="4268482"/>
            <a:ext cx="1653539" cy="11417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ctr">
              <a:lnSpc>
                <a:spcPct val="104000"/>
              </a:lnSpc>
              <a:spcBef>
                <a:spcPts val="15"/>
              </a:spcBef>
            </a:pPr>
            <a:r>
              <a:rPr sz="1800" b="1" spc="1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Frontend </a:t>
            </a:r>
            <a:r>
              <a:rPr sz="1800" b="1" spc="1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Dashboard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42875" marR="135255" algn="ctr">
              <a:lnSpc>
                <a:spcPct val="107000"/>
              </a:lnSpc>
              <a:spcBef>
                <a:spcPts val="655"/>
              </a:spcBef>
            </a:pPr>
            <a:r>
              <a:rPr sz="14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Displays</a:t>
            </a:r>
            <a:r>
              <a:rPr sz="14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patient </a:t>
            </a:r>
            <a:r>
              <a:rPr sz="14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interactions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02395" y="3992283"/>
            <a:ext cx="1717675" cy="17145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71780" marR="264160" algn="ctr">
              <a:lnSpc>
                <a:spcPct val="104000"/>
              </a:lnSpc>
              <a:spcBef>
                <a:spcPts val="15"/>
              </a:spcBef>
            </a:pPr>
            <a:r>
              <a:rPr sz="1800" b="1" spc="1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Groq</a:t>
            </a:r>
            <a:r>
              <a:rPr sz="1800" b="1" spc="-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•</a:t>
            </a:r>
            <a:r>
              <a:rPr sz="1800" b="1" spc="1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Gemini</a:t>
            </a:r>
            <a:r>
              <a:rPr sz="1800" b="1" spc="-16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•</a:t>
            </a:r>
            <a:r>
              <a:rPr sz="1800" b="1" spc="16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Ollama</a:t>
            </a:r>
            <a:r>
              <a:rPr sz="1800" b="1" spc="-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800" b="1" spc="-6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•</a:t>
            </a:r>
            <a:r>
              <a:rPr sz="1800" b="1" spc="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OpenAI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 marL="12700" marR="5080" algn="ctr">
              <a:lnSpc>
                <a:spcPct val="107000"/>
              </a:lnSpc>
              <a:spcBef>
                <a:spcPts val="655"/>
              </a:spcBef>
            </a:pPr>
            <a:r>
              <a:rPr sz="14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Multiple</a:t>
            </a:r>
            <a:r>
              <a:rPr sz="1450" spc="-7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</a:t>
            </a:r>
            <a:r>
              <a:rPr sz="1450" spc="-7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4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provider </a:t>
            </a:r>
            <a:r>
              <a:rPr sz="14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endpoints</a:t>
            </a:r>
            <a:endParaRPr sz="14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187" y="7826375"/>
            <a:ext cx="24955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O1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0075" y="81153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87375" y="8221662"/>
            <a:ext cx="454914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User</a:t>
            </a:r>
            <a:r>
              <a:rPr sz="1650" b="1" spc="-18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Interface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Intuitive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frontend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interaction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queries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32805" y="7826375"/>
            <a:ext cx="3073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O2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00725" y="811530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50"/>
                </a:lnTo>
                <a:lnTo>
                  <a:pt x="5029200" y="19050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788025" y="8221662"/>
            <a:ext cx="456438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Frontend</a:t>
            </a:r>
            <a:r>
              <a:rPr sz="1650" b="1" spc="-1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Dashboard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Responsive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web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interface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tracking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features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0517" y="9169400"/>
            <a:ext cx="3105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O3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0075" y="945832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87375" y="9564687"/>
            <a:ext cx="3910329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Flask</a:t>
            </a:r>
            <a:r>
              <a:rPr sz="1650" b="1" spc="-14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Backend</a:t>
            </a:r>
            <a:r>
              <a:rPr sz="1650" b="1" spc="-1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API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RESTful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API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handling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requests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business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logic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32513" y="9169400"/>
            <a:ext cx="3079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O4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00725" y="9458325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788025" y="9564687"/>
            <a:ext cx="491363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1650" b="1" spc="-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20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Model</a:t>
            </a:r>
            <a:r>
              <a:rPr sz="1650" b="1" spc="-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Router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Intelligent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routing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optimal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AI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provider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based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on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query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type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057" y="10512425"/>
            <a:ext cx="3060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O5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0075" y="108013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87375" y="10907712"/>
            <a:ext cx="484695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Multi-</a:t>
            </a:r>
            <a:r>
              <a:rPr sz="1650" b="1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</a:t>
            </a:r>
            <a:r>
              <a:rPr sz="1650" b="1" spc="-11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0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Integration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Hybrid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architecture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using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Groq,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Gemini,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Ollama,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OpenAI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29236" y="10512425"/>
            <a:ext cx="3143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OG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00725" y="10801350"/>
            <a:ext cx="5029200" cy="19050"/>
          </a:xfrm>
          <a:custGeom>
            <a:avLst/>
            <a:gdLst/>
            <a:ahLst/>
            <a:cxnLst/>
            <a:rect l="l" t="t" r="r" b="b"/>
            <a:pathLst>
              <a:path w="5029200" h="19050">
                <a:moveTo>
                  <a:pt x="5029200" y="0"/>
                </a:moveTo>
                <a:lnTo>
                  <a:pt x="0" y="0"/>
                </a:lnTo>
                <a:lnTo>
                  <a:pt x="0" y="19049"/>
                </a:lnTo>
                <a:lnTo>
                  <a:pt x="5029200" y="19049"/>
                </a:lnTo>
                <a:lnTo>
                  <a:pt x="5029200" y="0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788025" y="10907712"/>
            <a:ext cx="464820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2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MongoDB</a:t>
            </a:r>
            <a:r>
              <a:rPr sz="1650" b="1" spc="-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Storage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0000"/>
              </a:lnSpc>
              <a:spcBef>
                <a:spcPts val="690"/>
              </a:spcBef>
            </a:pP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Secure,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scalable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NoSQL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database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user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data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 records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89789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spc="3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Transforming</a:t>
            </a:r>
            <a:r>
              <a:rPr sz="3350" spc="-27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3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Healthcare</a:t>
            </a:r>
            <a:r>
              <a:rPr sz="3350" spc="-3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350" spc="4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Access</a:t>
            </a:r>
            <a:endParaRPr sz="3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375" y="1297939"/>
            <a:ext cx="987488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100"/>
              </a:spcBef>
            </a:pPr>
            <a:r>
              <a:rPr sz="13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WellBot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represents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the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future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of accessible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healthcare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technology, 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combining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intelligent 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assistance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secure,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real-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time health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monitoring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create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comprehensive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platform.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025" y="2095500"/>
            <a:ext cx="3314700" cy="2381250"/>
            <a:chOff x="581025" y="2095500"/>
            <a:chExt cx="3314700" cy="2381250"/>
          </a:xfrm>
        </p:grpSpPr>
        <p:sp>
          <p:nvSpPr>
            <p:cNvPr id="5" name="object 5"/>
            <p:cNvSpPr/>
            <p:nvPr/>
          </p:nvSpPr>
          <p:spPr>
            <a:xfrm>
              <a:off x="6000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0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10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77336" y="2355456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95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55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35025" y="2268537"/>
            <a:ext cx="2837180" cy="19888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275080" algn="just">
              <a:lnSpc>
                <a:spcPct val="1060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AI-</a:t>
            </a:r>
            <a:r>
              <a:rPr sz="1650" b="1" spc="12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Powered </a:t>
            </a:r>
            <a:r>
              <a:rPr sz="1650" b="1" spc="1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Healthcare </a:t>
            </a:r>
            <a:r>
              <a:rPr sz="1650" b="1" spc="204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Assistant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3000"/>
              </a:lnSpc>
              <a:spcBef>
                <a:spcPts val="640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Advanced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natural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language 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processing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enables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accurate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 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guidance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5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symptom assessment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125" y="2095500"/>
            <a:ext cx="3314700" cy="2381250"/>
            <a:chOff x="4048125" y="2095500"/>
            <a:chExt cx="3314700" cy="2381250"/>
          </a:xfrm>
        </p:grpSpPr>
        <p:sp>
          <p:nvSpPr>
            <p:cNvPr id="9" name="object 9"/>
            <p:cNvSpPr/>
            <p:nvPr/>
          </p:nvSpPr>
          <p:spPr>
            <a:xfrm>
              <a:off x="40671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1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481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313176" y="44399"/>
                  </a:lnTo>
                  <a:lnTo>
                    <a:pt x="3307080" y="29692"/>
                  </a:lnTo>
                  <a:lnTo>
                    <a:pt x="3302749" y="23202"/>
                  </a:lnTo>
                  <a:lnTo>
                    <a:pt x="3297593" y="18059"/>
                  </a:lnTo>
                  <a:lnTo>
                    <a:pt x="3297123" y="17576"/>
                  </a:lnTo>
                  <a:lnTo>
                    <a:pt x="3295650" y="16129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94913" y="2329218"/>
                  </a:lnTo>
                  <a:lnTo>
                    <a:pt x="3270415" y="2359202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4080" y="31572"/>
                  </a:lnTo>
                  <a:lnTo>
                    <a:pt x="3288893" y="37363"/>
                  </a:lnTo>
                  <a:lnTo>
                    <a:pt x="3292678" y="44399"/>
                  </a:lnTo>
                  <a:lnTo>
                    <a:pt x="3294888" y="51841"/>
                  </a:lnTo>
                  <a:lnTo>
                    <a:pt x="3295650" y="60007"/>
                  </a:lnTo>
                  <a:lnTo>
                    <a:pt x="3295650" y="16129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95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55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302125" y="2268537"/>
            <a:ext cx="2743200" cy="14458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75615">
              <a:lnSpc>
                <a:spcPct val="106000"/>
              </a:lnSpc>
              <a:spcBef>
                <a:spcPts val="15"/>
              </a:spcBef>
            </a:pPr>
            <a:r>
              <a:rPr sz="1650" b="1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Real-</a:t>
            </a:r>
            <a:r>
              <a:rPr sz="1650" b="1" spc="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1650" b="1" spc="-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Health Monitoring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2000"/>
              </a:lnSpc>
              <a:spcBef>
                <a:spcPts val="655"/>
              </a:spcBef>
            </a:pP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Continuous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wellness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tracking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instant</a:t>
            </a:r>
            <a:r>
              <a:rPr sz="1350" spc="-6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alerts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6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personalized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insights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15225" y="2095500"/>
            <a:ext cx="3314700" cy="2381250"/>
            <a:chOff x="7515225" y="2095500"/>
            <a:chExt cx="3314700" cy="2381250"/>
          </a:xfrm>
        </p:grpSpPr>
        <p:sp>
          <p:nvSpPr>
            <p:cNvPr id="13" name="object 13"/>
            <p:cNvSpPr/>
            <p:nvPr/>
          </p:nvSpPr>
          <p:spPr>
            <a:xfrm>
              <a:off x="7534275" y="2105025"/>
              <a:ext cx="3286125" cy="2362200"/>
            </a:xfrm>
            <a:custGeom>
              <a:avLst/>
              <a:gdLst/>
              <a:ahLst/>
              <a:cxnLst/>
              <a:rect l="l" t="t" r="r" b="b"/>
              <a:pathLst>
                <a:path w="3286125" h="23622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95525"/>
                  </a:lnTo>
                  <a:lnTo>
                    <a:pt x="0" y="2299906"/>
                  </a:lnTo>
                  <a:lnTo>
                    <a:pt x="15621" y="2336203"/>
                  </a:lnTo>
                  <a:lnTo>
                    <a:pt x="51663" y="2358796"/>
                  </a:lnTo>
                  <a:lnTo>
                    <a:pt x="71196" y="2362200"/>
                  </a:lnTo>
                  <a:lnTo>
                    <a:pt x="3238957" y="2362200"/>
                  </a:lnTo>
                  <a:lnTo>
                    <a:pt x="3273679" y="2345067"/>
                  </a:lnTo>
                  <a:lnTo>
                    <a:pt x="3286125" y="23150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515225" y="2095499"/>
              <a:ext cx="3314700" cy="2381250"/>
            </a:xfrm>
            <a:custGeom>
              <a:avLst/>
              <a:gdLst/>
              <a:ahLst/>
              <a:cxnLst/>
              <a:rect l="l" t="t" r="r" b="b"/>
              <a:pathLst>
                <a:path w="3314700" h="2381250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2321242"/>
                  </a:lnTo>
                  <a:lnTo>
                    <a:pt x="3277336" y="2355456"/>
                  </a:lnTo>
                  <a:lnTo>
                    <a:pt x="3254692" y="2362200"/>
                  </a:lnTo>
                  <a:lnTo>
                    <a:pt x="95250" y="2362200"/>
                  </a:lnTo>
                  <a:lnTo>
                    <a:pt x="87731" y="2361933"/>
                  </a:lnTo>
                  <a:lnTo>
                    <a:pt x="80378" y="2361120"/>
                  </a:lnTo>
                  <a:lnTo>
                    <a:pt x="76200" y="2360345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30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2321242"/>
                  </a:lnTo>
                  <a:lnTo>
                    <a:pt x="0" y="2325179"/>
                  </a:lnTo>
                  <a:lnTo>
                    <a:pt x="14782" y="2360892"/>
                  </a:lnTo>
                  <a:lnTo>
                    <a:pt x="52158" y="2380869"/>
                  </a:lnTo>
                  <a:lnTo>
                    <a:pt x="56070" y="2381250"/>
                  </a:lnTo>
                  <a:lnTo>
                    <a:pt x="76200" y="2381250"/>
                  </a:lnTo>
                  <a:lnTo>
                    <a:pt x="76200" y="2378760"/>
                  </a:lnTo>
                  <a:lnTo>
                    <a:pt x="80378" y="2379802"/>
                  </a:lnTo>
                  <a:lnTo>
                    <a:pt x="87731" y="2380894"/>
                  </a:lnTo>
                  <a:lnTo>
                    <a:pt x="95250" y="2381250"/>
                  </a:lnTo>
                  <a:lnTo>
                    <a:pt x="3262630" y="2381250"/>
                  </a:lnTo>
                  <a:lnTo>
                    <a:pt x="3269919" y="2379802"/>
                  </a:lnTo>
                  <a:lnTo>
                    <a:pt x="3270110" y="2379802"/>
                  </a:lnTo>
                  <a:lnTo>
                    <a:pt x="3285007" y="2373630"/>
                  </a:lnTo>
                  <a:lnTo>
                    <a:pt x="3291497" y="2369299"/>
                  </a:lnTo>
                  <a:lnTo>
                    <a:pt x="3297123" y="2363673"/>
                  </a:lnTo>
                  <a:lnTo>
                    <a:pt x="3297593" y="2363203"/>
                  </a:lnTo>
                  <a:lnTo>
                    <a:pt x="3302749" y="2358047"/>
                  </a:lnTo>
                  <a:lnTo>
                    <a:pt x="3307080" y="2351557"/>
                  </a:lnTo>
                  <a:lnTo>
                    <a:pt x="3313125" y="2336977"/>
                  </a:lnTo>
                  <a:lnTo>
                    <a:pt x="3314649" y="2329421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769225" y="2268537"/>
            <a:ext cx="2700020" cy="14458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49910">
              <a:lnSpc>
                <a:spcPct val="106000"/>
              </a:lnSpc>
              <a:spcBef>
                <a:spcPts val="15"/>
              </a:spcBef>
            </a:pPr>
            <a:r>
              <a:rPr sz="1650" b="1" spc="1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Multi-</a:t>
            </a:r>
            <a:r>
              <a:rPr sz="1650" b="1" spc="1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Language </a:t>
            </a:r>
            <a:r>
              <a:rPr sz="1650" b="1" spc="1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Accessibility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2000"/>
              </a:lnSpc>
              <a:spcBef>
                <a:spcPts val="655"/>
              </a:spcBef>
            </a:pP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Built-</a:t>
            </a:r>
            <a:r>
              <a:rPr sz="1350" spc="-1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language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translation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ensures</a:t>
            </a:r>
            <a:r>
              <a:rPr sz="1350" spc="-4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healthcare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assistance</a:t>
            </a:r>
            <a:r>
              <a:rPr sz="1350" spc="-3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 diverse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populations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" y="4648200"/>
            <a:ext cx="3314700" cy="1838325"/>
            <a:chOff x="581025" y="4648200"/>
            <a:chExt cx="3314700" cy="1838325"/>
          </a:xfrm>
        </p:grpSpPr>
        <p:sp>
          <p:nvSpPr>
            <p:cNvPr id="17" name="object 17"/>
            <p:cNvSpPr/>
            <p:nvPr/>
          </p:nvSpPr>
          <p:spPr>
            <a:xfrm>
              <a:off x="600075" y="4657725"/>
              <a:ext cx="3286125" cy="1819275"/>
            </a:xfrm>
            <a:custGeom>
              <a:avLst/>
              <a:gdLst/>
              <a:ahLst/>
              <a:cxnLst/>
              <a:rect l="l" t="t" r="r" b="b"/>
              <a:pathLst>
                <a:path w="3286125" h="1819275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52600"/>
                  </a:lnTo>
                  <a:lnTo>
                    <a:pt x="0" y="1756981"/>
                  </a:lnTo>
                  <a:lnTo>
                    <a:pt x="15620" y="1793278"/>
                  </a:lnTo>
                  <a:lnTo>
                    <a:pt x="51663" y="1815871"/>
                  </a:lnTo>
                  <a:lnTo>
                    <a:pt x="71196" y="1819275"/>
                  </a:lnTo>
                  <a:lnTo>
                    <a:pt x="3238957" y="1819275"/>
                  </a:lnTo>
                  <a:lnTo>
                    <a:pt x="3273679" y="1802142"/>
                  </a:lnTo>
                  <a:lnTo>
                    <a:pt x="3286125" y="1772107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1025" y="4648199"/>
              <a:ext cx="3314700" cy="1838325"/>
            </a:xfrm>
            <a:custGeom>
              <a:avLst/>
              <a:gdLst/>
              <a:ahLst/>
              <a:cxnLst/>
              <a:rect l="l" t="t" r="r" b="b"/>
              <a:pathLst>
                <a:path w="3314700" h="1838325">
                  <a:moveTo>
                    <a:pt x="3314649" y="51841"/>
                  </a:moveTo>
                  <a:lnTo>
                    <a:pt x="3297339" y="17818"/>
                  </a:lnTo>
                  <a:lnTo>
                    <a:pt x="3297110" y="17576"/>
                  </a:lnTo>
                  <a:lnTo>
                    <a:pt x="3295650" y="16116"/>
                  </a:lnTo>
                  <a:lnTo>
                    <a:pt x="3295650" y="60007"/>
                  </a:lnTo>
                  <a:lnTo>
                    <a:pt x="3295650" y="1778317"/>
                  </a:lnTo>
                  <a:lnTo>
                    <a:pt x="3277336" y="1812531"/>
                  </a:lnTo>
                  <a:lnTo>
                    <a:pt x="3254692" y="1819275"/>
                  </a:lnTo>
                  <a:lnTo>
                    <a:pt x="95250" y="1819275"/>
                  </a:lnTo>
                  <a:lnTo>
                    <a:pt x="87731" y="1819008"/>
                  </a:lnTo>
                  <a:lnTo>
                    <a:pt x="80378" y="1818195"/>
                  </a:lnTo>
                  <a:lnTo>
                    <a:pt x="76200" y="1817420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8893" y="37363"/>
                  </a:lnTo>
                  <a:lnTo>
                    <a:pt x="3295650" y="60007"/>
                  </a:lnTo>
                  <a:lnTo>
                    <a:pt x="3295650" y="16116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1778317"/>
                  </a:lnTo>
                  <a:lnTo>
                    <a:pt x="0" y="1782254"/>
                  </a:lnTo>
                  <a:lnTo>
                    <a:pt x="14795" y="1817966"/>
                  </a:lnTo>
                  <a:lnTo>
                    <a:pt x="52158" y="1837944"/>
                  </a:lnTo>
                  <a:lnTo>
                    <a:pt x="56070" y="1838325"/>
                  </a:lnTo>
                  <a:lnTo>
                    <a:pt x="76200" y="1838325"/>
                  </a:lnTo>
                  <a:lnTo>
                    <a:pt x="76200" y="1835835"/>
                  </a:lnTo>
                  <a:lnTo>
                    <a:pt x="80378" y="1836877"/>
                  </a:lnTo>
                  <a:lnTo>
                    <a:pt x="87731" y="1837969"/>
                  </a:lnTo>
                  <a:lnTo>
                    <a:pt x="95250" y="1838325"/>
                  </a:lnTo>
                  <a:lnTo>
                    <a:pt x="3262655" y="1838325"/>
                  </a:lnTo>
                  <a:lnTo>
                    <a:pt x="3269919" y="1836877"/>
                  </a:lnTo>
                  <a:lnTo>
                    <a:pt x="3270110" y="1836877"/>
                  </a:lnTo>
                  <a:lnTo>
                    <a:pt x="3285007" y="1830705"/>
                  </a:lnTo>
                  <a:lnTo>
                    <a:pt x="3291497" y="1826374"/>
                  </a:lnTo>
                  <a:lnTo>
                    <a:pt x="3297123" y="1820748"/>
                  </a:lnTo>
                  <a:lnTo>
                    <a:pt x="3297593" y="1820278"/>
                  </a:lnTo>
                  <a:lnTo>
                    <a:pt x="3302749" y="1815122"/>
                  </a:lnTo>
                  <a:lnTo>
                    <a:pt x="3307080" y="1808632"/>
                  </a:lnTo>
                  <a:lnTo>
                    <a:pt x="3313125" y="1794052"/>
                  </a:lnTo>
                  <a:lnTo>
                    <a:pt x="3314649" y="1786496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35025" y="4821237"/>
            <a:ext cx="2806700" cy="1455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381635">
              <a:lnSpc>
                <a:spcPct val="106000"/>
              </a:lnSpc>
              <a:spcBef>
                <a:spcPts val="15"/>
              </a:spcBef>
            </a:pPr>
            <a:r>
              <a:rPr sz="1650" b="1" spc="1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Secure</a:t>
            </a:r>
            <a:r>
              <a:rPr sz="1650" b="1" spc="-1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&amp;</a:t>
            </a:r>
            <a:r>
              <a:rPr sz="1650" b="1" spc="-21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6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Scalable </a:t>
            </a:r>
            <a:r>
              <a:rPr sz="1650" b="1" spc="15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Architecture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4000"/>
              </a:lnSpc>
              <a:spcBef>
                <a:spcPts val="615"/>
              </a:spcBef>
            </a:pP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Enterprise-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grade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security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with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hybrid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AI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infrastructure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supporting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growth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48125" y="4648200"/>
            <a:ext cx="3314700" cy="1838325"/>
            <a:chOff x="4048125" y="4648200"/>
            <a:chExt cx="3314700" cy="1838325"/>
          </a:xfrm>
        </p:grpSpPr>
        <p:sp>
          <p:nvSpPr>
            <p:cNvPr id="21" name="object 21"/>
            <p:cNvSpPr/>
            <p:nvPr/>
          </p:nvSpPr>
          <p:spPr>
            <a:xfrm>
              <a:off x="4067175" y="4657725"/>
              <a:ext cx="3286125" cy="1819275"/>
            </a:xfrm>
            <a:custGeom>
              <a:avLst/>
              <a:gdLst/>
              <a:ahLst/>
              <a:cxnLst/>
              <a:rect l="l" t="t" r="r" b="b"/>
              <a:pathLst>
                <a:path w="3286125" h="1819275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52600"/>
                  </a:lnTo>
                  <a:lnTo>
                    <a:pt x="0" y="1756981"/>
                  </a:lnTo>
                  <a:lnTo>
                    <a:pt x="15621" y="1793278"/>
                  </a:lnTo>
                  <a:lnTo>
                    <a:pt x="51663" y="1815871"/>
                  </a:lnTo>
                  <a:lnTo>
                    <a:pt x="71196" y="1819275"/>
                  </a:lnTo>
                  <a:lnTo>
                    <a:pt x="3238957" y="1819275"/>
                  </a:lnTo>
                  <a:lnTo>
                    <a:pt x="3273679" y="1802142"/>
                  </a:lnTo>
                  <a:lnTo>
                    <a:pt x="3286125" y="1772107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33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8125" y="4648199"/>
              <a:ext cx="3314700" cy="1838325"/>
            </a:xfrm>
            <a:custGeom>
              <a:avLst/>
              <a:gdLst/>
              <a:ahLst/>
              <a:cxnLst/>
              <a:rect l="l" t="t" r="r" b="b"/>
              <a:pathLst>
                <a:path w="3314700" h="1838325">
                  <a:moveTo>
                    <a:pt x="3314649" y="51841"/>
                  </a:moveTo>
                  <a:lnTo>
                    <a:pt x="3313176" y="44399"/>
                  </a:lnTo>
                  <a:lnTo>
                    <a:pt x="3307080" y="29692"/>
                  </a:lnTo>
                  <a:lnTo>
                    <a:pt x="3302749" y="23202"/>
                  </a:lnTo>
                  <a:lnTo>
                    <a:pt x="3297593" y="18059"/>
                  </a:lnTo>
                  <a:lnTo>
                    <a:pt x="3297123" y="17576"/>
                  </a:lnTo>
                  <a:lnTo>
                    <a:pt x="3295650" y="16129"/>
                  </a:lnTo>
                  <a:lnTo>
                    <a:pt x="3295650" y="60007"/>
                  </a:lnTo>
                  <a:lnTo>
                    <a:pt x="3295650" y="1778317"/>
                  </a:lnTo>
                  <a:lnTo>
                    <a:pt x="3294913" y="1786280"/>
                  </a:lnTo>
                  <a:lnTo>
                    <a:pt x="3270415" y="1816277"/>
                  </a:lnTo>
                  <a:lnTo>
                    <a:pt x="3254692" y="1819275"/>
                  </a:lnTo>
                  <a:lnTo>
                    <a:pt x="95250" y="1819275"/>
                  </a:lnTo>
                  <a:lnTo>
                    <a:pt x="87731" y="1819008"/>
                  </a:lnTo>
                  <a:lnTo>
                    <a:pt x="80378" y="1818195"/>
                  </a:lnTo>
                  <a:lnTo>
                    <a:pt x="76200" y="1817420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50" y="19050"/>
                  </a:lnTo>
                  <a:lnTo>
                    <a:pt x="3254692" y="19050"/>
                  </a:lnTo>
                  <a:lnTo>
                    <a:pt x="3283648" y="31064"/>
                  </a:lnTo>
                  <a:lnTo>
                    <a:pt x="3288893" y="37363"/>
                  </a:lnTo>
                  <a:lnTo>
                    <a:pt x="3292678" y="44399"/>
                  </a:lnTo>
                  <a:lnTo>
                    <a:pt x="3294888" y="51841"/>
                  </a:lnTo>
                  <a:lnTo>
                    <a:pt x="3295650" y="60007"/>
                  </a:lnTo>
                  <a:lnTo>
                    <a:pt x="3295650" y="16129"/>
                  </a:lnTo>
                  <a:lnTo>
                    <a:pt x="3291497" y="11950"/>
                  </a:lnTo>
                  <a:lnTo>
                    <a:pt x="3285007" y="7607"/>
                  </a:lnTo>
                  <a:lnTo>
                    <a:pt x="3270415" y="1574"/>
                  </a:lnTo>
                  <a:lnTo>
                    <a:pt x="3270542" y="1574"/>
                  </a:lnTo>
                  <a:lnTo>
                    <a:pt x="3262655" y="0"/>
                  </a:lnTo>
                  <a:lnTo>
                    <a:pt x="95250" y="0"/>
                  </a:lnTo>
                  <a:lnTo>
                    <a:pt x="87731" y="368"/>
                  </a:lnTo>
                  <a:lnTo>
                    <a:pt x="79540" y="1574"/>
                  </a:lnTo>
                  <a:lnTo>
                    <a:pt x="79883" y="1574"/>
                  </a:lnTo>
                  <a:lnTo>
                    <a:pt x="76200" y="2501"/>
                  </a:lnTo>
                  <a:lnTo>
                    <a:pt x="76200" y="0"/>
                  </a:lnTo>
                  <a:lnTo>
                    <a:pt x="56070" y="0"/>
                  </a:lnTo>
                  <a:lnTo>
                    <a:pt x="20358" y="14795"/>
                  </a:lnTo>
                  <a:lnTo>
                    <a:pt x="381" y="52158"/>
                  </a:lnTo>
                  <a:lnTo>
                    <a:pt x="0" y="56070"/>
                  </a:lnTo>
                  <a:lnTo>
                    <a:pt x="0" y="1778317"/>
                  </a:lnTo>
                  <a:lnTo>
                    <a:pt x="0" y="1782254"/>
                  </a:lnTo>
                  <a:lnTo>
                    <a:pt x="14795" y="1817966"/>
                  </a:lnTo>
                  <a:lnTo>
                    <a:pt x="52158" y="1837944"/>
                  </a:lnTo>
                  <a:lnTo>
                    <a:pt x="56070" y="1838325"/>
                  </a:lnTo>
                  <a:lnTo>
                    <a:pt x="76200" y="1838325"/>
                  </a:lnTo>
                  <a:lnTo>
                    <a:pt x="76200" y="1835835"/>
                  </a:lnTo>
                  <a:lnTo>
                    <a:pt x="80378" y="1836877"/>
                  </a:lnTo>
                  <a:lnTo>
                    <a:pt x="87731" y="1837969"/>
                  </a:lnTo>
                  <a:lnTo>
                    <a:pt x="95250" y="1838325"/>
                  </a:lnTo>
                  <a:lnTo>
                    <a:pt x="3262655" y="1838325"/>
                  </a:lnTo>
                  <a:lnTo>
                    <a:pt x="3269919" y="1836877"/>
                  </a:lnTo>
                  <a:lnTo>
                    <a:pt x="3270110" y="1836877"/>
                  </a:lnTo>
                  <a:lnTo>
                    <a:pt x="3285007" y="1830705"/>
                  </a:lnTo>
                  <a:lnTo>
                    <a:pt x="3291497" y="1826374"/>
                  </a:lnTo>
                  <a:lnTo>
                    <a:pt x="3297123" y="1820748"/>
                  </a:lnTo>
                  <a:lnTo>
                    <a:pt x="3297593" y="1820278"/>
                  </a:lnTo>
                  <a:lnTo>
                    <a:pt x="3302749" y="1815122"/>
                  </a:lnTo>
                  <a:lnTo>
                    <a:pt x="3307080" y="1808632"/>
                  </a:lnTo>
                  <a:lnTo>
                    <a:pt x="3313125" y="1794052"/>
                  </a:lnTo>
                  <a:lnTo>
                    <a:pt x="3314649" y="1786496"/>
                  </a:lnTo>
                  <a:lnTo>
                    <a:pt x="3314649" y="51841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302125" y="4821237"/>
            <a:ext cx="2763520" cy="1455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71805">
              <a:lnSpc>
                <a:spcPct val="106000"/>
              </a:lnSpc>
              <a:spcBef>
                <a:spcPts val="15"/>
              </a:spcBef>
            </a:pPr>
            <a:r>
              <a:rPr sz="1650" b="1" spc="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Intelligent</a:t>
            </a:r>
            <a:r>
              <a:rPr sz="1650" b="1" spc="-16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50" b="1" spc="17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Admin </a:t>
            </a:r>
            <a:r>
              <a:rPr sz="1650" b="1" spc="20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System</a:t>
            </a:r>
            <a:endParaRPr sz="165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34000"/>
              </a:lnSpc>
              <a:spcBef>
                <a:spcPts val="615"/>
              </a:spcBef>
            </a:pPr>
            <a:r>
              <a:rPr sz="1350" spc="-3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Comprehensive</a:t>
            </a:r>
            <a:r>
              <a:rPr sz="1350" spc="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monitoring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dashboard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for</a:t>
            </a:r>
            <a:r>
              <a:rPr sz="1350" spc="-6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healthcare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administrators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and</a:t>
            </a:r>
            <a:r>
              <a:rPr sz="1350" spc="-4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5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support</a:t>
            </a:r>
            <a:r>
              <a:rPr sz="1350" spc="-5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333E6F"/>
                </a:solidFill>
                <a:latin typeface="Lucida Sans Unicode" panose="020B0602030504020204"/>
                <a:cs typeface="Lucida Sans Unicode" panose="020B0602030504020204"/>
              </a:rPr>
              <a:t>teams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7375" y="6730047"/>
            <a:ext cx="10166985" cy="29546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5850"/>
              </a:lnSpc>
              <a:spcBef>
                <a:spcPts val="75"/>
              </a:spcBef>
            </a:pPr>
            <a:r>
              <a:rPr sz="4650" b="1" spc="3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WellBot</a:t>
            </a:r>
            <a:r>
              <a:rPr sz="4650" b="1" spc="-4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5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makes</a:t>
            </a:r>
            <a:r>
              <a:rPr sz="4650" b="1" spc="-4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40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healthcare </a:t>
            </a:r>
            <a:r>
              <a:rPr sz="4650" b="1" spc="5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assistance</a:t>
            </a:r>
            <a:r>
              <a:rPr sz="4650" b="1" spc="-4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34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faster,</a:t>
            </a:r>
            <a:r>
              <a:rPr sz="4650" b="1" spc="-4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3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4650" b="1" spc="3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ma</a:t>
            </a:r>
            <a:r>
              <a:rPr sz="4650" b="1" spc="41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4650" b="1" spc="33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4650" b="1" spc="38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4650" b="1" spc="-9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4650" b="1" spc="395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,</a:t>
            </a:r>
            <a:endParaRPr sz="4650">
              <a:latin typeface="Verdana" panose="020B0604030504040204"/>
              <a:cs typeface="Verdana" panose="020B0604030504040204"/>
            </a:endParaRPr>
          </a:p>
          <a:p>
            <a:pPr marL="12700" marR="3279775">
              <a:lnSpc>
                <a:spcPts val="5780"/>
              </a:lnSpc>
            </a:pPr>
            <a:r>
              <a:rPr sz="4650" b="1" spc="54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4650" b="1" spc="-4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45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accessible</a:t>
            </a:r>
            <a:r>
              <a:rPr sz="4650" b="1" spc="-42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650" b="1" spc="44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for </a:t>
            </a:r>
            <a:r>
              <a:rPr sz="4650" b="1" spc="310" dirty="0">
                <a:solidFill>
                  <a:srgbClr val="333E6F"/>
                </a:solidFill>
                <a:latin typeface="Verdana" panose="020B0604030504040204"/>
                <a:cs typeface="Verdana" panose="020B0604030504040204"/>
              </a:rPr>
              <a:t>everyone</a:t>
            </a:r>
            <a:endParaRPr sz="465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6479" y="1914143"/>
              <a:ext cx="5812535" cy="410260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b="0" spc="-204" dirty="0">
                <a:latin typeface="Malgun Gothic Semilight" panose="020B0502040204020203" charset="-122"/>
                <a:cs typeface="Malgun Gothic Semilight" panose="020B0502040204020203" charset="-122"/>
              </a:rPr>
              <a:t>M</a:t>
            </a:r>
            <a:r>
              <a:rPr b="0" spc="170" dirty="0">
                <a:latin typeface="Malgun Gothic Semilight" panose="020B0502040204020203" charset="-122"/>
                <a:cs typeface="Malgun Gothic Semilight" panose="020B0502040204020203" charset="-122"/>
              </a:rPr>
              <a:t>ul</a:t>
            </a:r>
            <a:r>
              <a:rPr b="0" spc="10" dirty="0">
                <a:latin typeface="Malgun Gothic Semilight" panose="020B0502040204020203" charset="-122"/>
                <a:cs typeface="Malgun Gothic Semilight" panose="020B0502040204020203" charset="-122"/>
              </a:rPr>
              <a:t>t</a:t>
            </a:r>
            <a:r>
              <a:rPr b="0" spc="185" dirty="0">
                <a:latin typeface="Malgun Gothic Semilight" panose="020B0502040204020203" charset="-122"/>
                <a:cs typeface="Malgun Gothic Semilight" panose="020B0502040204020203" charset="-122"/>
              </a:rPr>
              <a:t>i</a:t>
            </a:r>
            <a:r>
              <a:rPr b="0" spc="-335" dirty="0">
                <a:latin typeface="Malgun Gothic Semilight" panose="020B0502040204020203" charset="-122"/>
                <a:cs typeface="Malgun Gothic Semilight" panose="020B0502040204020203" charset="-122"/>
              </a:rPr>
              <a:t>-</a:t>
            </a:r>
            <a:r>
              <a:rPr b="0" dirty="0">
                <a:latin typeface="Malgun Gothic Semilight" panose="020B0502040204020203" charset="-122"/>
                <a:cs typeface="Malgun Gothic Semilight" panose="020B0502040204020203" charset="-122"/>
              </a:rPr>
              <a:t>L</a:t>
            </a:r>
            <a:r>
              <a:rPr b="0" spc="-535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35" dirty="0">
                <a:latin typeface="Malgun Gothic Semilight" panose="020B0502040204020203" charset="-122"/>
                <a:cs typeface="Malgun Gothic Semilight" panose="020B0502040204020203" charset="-122"/>
              </a:rPr>
              <a:t>anguage</a:t>
            </a:r>
            <a:r>
              <a:rPr b="0" spc="85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dirty="0">
                <a:latin typeface="Malgun Gothic Semilight" panose="020B0502040204020203" charset="-122"/>
                <a:cs typeface="Malgun Gothic Semilight" panose="020B0502040204020203" charset="-122"/>
              </a:rPr>
              <a:t>S</a:t>
            </a:r>
            <a:r>
              <a:rPr b="0" spc="-50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00" dirty="0">
                <a:latin typeface="Malgun Gothic Semilight" panose="020B0502040204020203" charset="-122"/>
                <a:cs typeface="Malgun Gothic Semilight" panose="020B0502040204020203" charset="-122"/>
              </a:rPr>
              <a:t>upport</a:t>
            </a:r>
            <a:endParaRPr b="0" spc="100" dirty="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5200" y="2575449"/>
            <a:ext cx="5183505" cy="346710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WellBot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bridges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communication</a:t>
            </a:r>
            <a:r>
              <a:rPr sz="1800" spc="-7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gap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by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offering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support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multiple</a:t>
            </a:r>
            <a:r>
              <a:rPr sz="1800" spc="-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languages.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1800" b="1" spc="-12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English</a:t>
            </a:r>
            <a:r>
              <a:rPr sz="1800" b="1" spc="-1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 Global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accessibility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40"/>
              </a:spcBef>
            </a:pPr>
            <a:r>
              <a:rPr sz="1800" b="1" spc="-4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Hindi</a:t>
            </a:r>
            <a:r>
              <a:rPr sz="1800" b="1" spc="-19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National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reach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40"/>
              </a:spcBef>
            </a:pPr>
            <a:r>
              <a:rPr sz="1800" b="1" spc="-1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Kannada</a:t>
            </a:r>
            <a:r>
              <a:rPr sz="1800" b="1" spc="-12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Regional</a:t>
            </a:r>
            <a:r>
              <a:rPr sz="18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localization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ct val="100000"/>
              </a:lnSpc>
              <a:spcBef>
                <a:spcPts val="2045"/>
              </a:spcBef>
            </a:pPr>
            <a:r>
              <a:rPr sz="1800" b="1" spc="-12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Spanish</a:t>
            </a:r>
            <a:r>
              <a:rPr sz="1800" b="1" spc="-1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International</a:t>
            </a:r>
            <a:r>
              <a:rPr sz="1800" spc="-5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expansion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Enhancing</a:t>
            </a:r>
            <a:r>
              <a:rPr sz="1800" b="1" spc="-3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8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communication</a:t>
            </a:r>
            <a:r>
              <a:rPr sz="1800" b="1" spc="-90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3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800" b="1" spc="-7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800" b="1" spc="-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5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healthier</a:t>
            </a:r>
            <a:r>
              <a:rPr sz="1800" b="1" spc="-100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2DCC70"/>
                </a:solidFill>
                <a:latin typeface="Arial" panose="020B0604020202020204"/>
                <a:cs typeface="Arial" panose="020B0604020202020204"/>
              </a:rPr>
              <a:t>world.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01623"/>
            <a:ext cx="11954510" cy="6056630"/>
            <a:chOff x="0" y="801623"/>
            <a:chExt cx="11954510" cy="605663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801623"/>
              <a:ext cx="11954256" cy="60563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478279"/>
              <a:ext cx="4946904" cy="1106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8840" y="902207"/>
              <a:ext cx="5209032" cy="25176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8840" y="3630168"/>
              <a:ext cx="5260848" cy="3048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7885" y="1410411"/>
            <a:ext cx="3836670" cy="12014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4560"/>
              </a:lnSpc>
              <a:spcBef>
                <a:spcPts val="340"/>
              </a:spcBef>
            </a:pPr>
            <a:r>
              <a:rPr dirty="0"/>
              <a:t>Dynamic</a:t>
            </a:r>
            <a:r>
              <a:rPr spc="-40" dirty="0"/>
              <a:t> </a:t>
            </a:r>
            <a:r>
              <a:rPr spc="-10" dirty="0"/>
              <a:t>Theme System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319836" y="3045333"/>
            <a:ext cx="4916170" cy="3576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4995">
              <a:lnSpc>
                <a:spcPct val="126000"/>
              </a:lnSpc>
              <a:spcBef>
                <a:spcPts val="100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</a:t>
            </a:r>
            <a:r>
              <a:rPr sz="1800" spc="-1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customizable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interface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designed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for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user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comfort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accessibility.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</a:pPr>
            <a:r>
              <a:rPr sz="1800" b="1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Light</a:t>
            </a:r>
            <a:r>
              <a:rPr sz="1800" b="1" spc="-7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Theme</a:t>
            </a:r>
            <a:r>
              <a:rPr sz="1800" b="1" spc="-10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Professional</a:t>
            </a:r>
            <a:r>
              <a:rPr sz="1800" spc="-6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clean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45"/>
              </a:spcBef>
            </a:pPr>
            <a:r>
              <a:rPr sz="1800" b="1" spc="-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Dark</a:t>
            </a:r>
            <a:r>
              <a:rPr sz="1800" b="1" spc="-3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4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Theme</a:t>
            </a:r>
            <a:r>
              <a:rPr sz="1800" b="1" spc="-1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Reduces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eye</a:t>
            </a:r>
            <a:r>
              <a:rPr sz="18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strain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low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light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40"/>
              </a:spcBef>
            </a:pPr>
            <a:r>
              <a:rPr sz="1800" b="1" spc="-5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Automatic</a:t>
            </a:r>
            <a:r>
              <a:rPr sz="1800" b="1" spc="-26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Adaptation</a:t>
            </a:r>
            <a:r>
              <a:rPr sz="1800" b="1" spc="-12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UI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components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adjust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instantly</a:t>
            </a:r>
            <a:endParaRPr sz="1800">
              <a:latin typeface="Arial MT"/>
              <a:cs typeface="Arial MT"/>
            </a:endParaRPr>
          </a:p>
          <a:p>
            <a:pPr marL="202565">
              <a:lnSpc>
                <a:spcPct val="100000"/>
              </a:lnSpc>
              <a:spcBef>
                <a:spcPts val="2030"/>
              </a:spcBef>
            </a:pPr>
            <a:r>
              <a:rPr sz="1800" b="1" spc="-8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Readability</a:t>
            </a:r>
            <a:r>
              <a:rPr sz="1800" b="1" spc="-2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 High contrast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all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environments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516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7153" y="888568"/>
            <a:ext cx="628523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0" spc="45" dirty="0">
                <a:latin typeface="Malgun Gothic Semilight" panose="020B0502040204020203" charset="-122"/>
                <a:cs typeface="Malgun Gothic Semilight" panose="020B0502040204020203" charset="-122"/>
              </a:rPr>
              <a:t>R</a:t>
            </a:r>
            <a:r>
              <a:rPr b="0" spc="114" dirty="0">
                <a:latin typeface="Malgun Gothic Semilight" panose="020B0502040204020203" charset="-122"/>
                <a:cs typeface="Malgun Gothic Semilight" panose="020B0502040204020203" charset="-122"/>
              </a:rPr>
              <a:t>e</a:t>
            </a:r>
            <a:r>
              <a:rPr b="0" spc="165" dirty="0">
                <a:latin typeface="Malgun Gothic Semilight" panose="020B0502040204020203" charset="-122"/>
                <a:cs typeface="Malgun Gothic Semilight" panose="020B0502040204020203" charset="-122"/>
              </a:rPr>
              <a:t>a</a:t>
            </a:r>
            <a:r>
              <a:rPr b="0" spc="200" dirty="0">
                <a:latin typeface="Malgun Gothic Semilight" panose="020B0502040204020203" charset="-122"/>
                <a:cs typeface="Malgun Gothic Semilight" panose="020B0502040204020203" charset="-122"/>
              </a:rPr>
              <a:t>l</a:t>
            </a:r>
            <a:r>
              <a:rPr b="0" spc="-320" dirty="0">
                <a:latin typeface="Malgun Gothic Semilight" panose="020B0502040204020203" charset="-122"/>
                <a:cs typeface="Malgun Gothic Semilight" panose="020B0502040204020203" charset="-122"/>
              </a:rPr>
              <a:t>-</a:t>
            </a:r>
            <a:r>
              <a:rPr b="0" spc="130" dirty="0">
                <a:latin typeface="Malgun Gothic Semilight" panose="020B0502040204020203" charset="-122"/>
                <a:cs typeface="Malgun Gothic Semilight" panose="020B0502040204020203" charset="-122"/>
              </a:rPr>
              <a:t>Time</a:t>
            </a:r>
            <a:r>
              <a:rPr b="0" spc="-15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14" dirty="0">
                <a:latin typeface="Malgun Gothic Semilight" panose="020B0502040204020203" charset="-122"/>
                <a:cs typeface="Malgun Gothic Semilight" panose="020B0502040204020203" charset="-122"/>
              </a:rPr>
              <a:t>Activity</a:t>
            </a:r>
            <a:r>
              <a:rPr b="0" spc="275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45" dirty="0">
                <a:latin typeface="Malgun Gothic Semilight" panose="020B0502040204020203" charset="-122"/>
                <a:cs typeface="Malgun Gothic Semilight" panose="020B0502040204020203" charset="-122"/>
              </a:rPr>
              <a:t>Tracking</a:t>
            </a:r>
            <a:endParaRPr b="0" spc="145" dirty="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4291" y="1245630"/>
            <a:ext cx="2289175" cy="2730500"/>
          </a:xfrm>
          <a:prstGeom prst="rect">
            <a:avLst/>
          </a:prstGeom>
        </p:spPr>
        <p:txBody>
          <a:bodyPr vert="horz" wrap="square" lIns="0" tIns="638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30"/>
              </a:spcBef>
            </a:pPr>
            <a:r>
              <a:rPr sz="10500" b="1" spc="5725" dirty="0">
                <a:solidFill>
                  <a:srgbClr val="2DCC70"/>
                </a:solidFill>
                <a:latin typeface="Segoe UI" panose="020B0502040204020203"/>
                <a:cs typeface="Segoe UI" panose="020B0502040204020203"/>
              </a:rPr>
              <a:t>👣</a:t>
            </a:r>
            <a:endParaRPr sz="10500">
              <a:latin typeface="Segoe UI" panose="020B0502040204020203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1065"/>
              </a:spcBef>
            </a:pPr>
            <a:r>
              <a:rPr sz="2250" b="1" dirty="0">
                <a:solidFill>
                  <a:srgbClr val="1F395F"/>
                </a:solidFill>
                <a:latin typeface="Times New Roman" panose="02020603050405020304"/>
                <a:cs typeface="Times New Roman" panose="02020603050405020304"/>
              </a:rPr>
              <a:t>Footprint</a:t>
            </a:r>
            <a:r>
              <a:rPr sz="2250" b="1" spc="-45" dirty="0">
                <a:solidFill>
                  <a:srgbClr val="1F39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="1" spc="-10" dirty="0">
                <a:solidFill>
                  <a:srgbClr val="1F395F"/>
                </a:solidFill>
                <a:latin typeface="Times New Roman" panose="02020603050405020304"/>
                <a:cs typeface="Times New Roman" panose="02020603050405020304"/>
              </a:rPr>
              <a:t>Counter</a:t>
            </a:r>
            <a:endParaRPr sz="2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0852" y="4295343"/>
            <a:ext cx="3303904" cy="1901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5469"/>
                </a:solidFill>
                <a:latin typeface="Arial MT"/>
                <a:cs typeface="Arial MT"/>
              </a:rPr>
              <a:t>Tracks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daily</a:t>
            </a:r>
            <a:r>
              <a:rPr sz="1800" spc="-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physical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activity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4200"/>
              </a:lnSpc>
              <a:spcBef>
                <a:spcPts val="285"/>
              </a:spcBef>
            </a:pP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Updates</a:t>
            </a:r>
            <a:r>
              <a:rPr sz="1800" spc="-8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steps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real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time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Displays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progress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dashboard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Encourages</a:t>
            </a:r>
            <a:r>
              <a:rPr sz="1800" spc="2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healthy</a:t>
            </a:r>
            <a:r>
              <a:rPr sz="1800" spc="-8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habits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3744" y="2084831"/>
              <a:ext cx="5279135" cy="4288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1159" y="1709927"/>
              <a:ext cx="6553200" cy="44958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b="0" spc="75" dirty="0">
                <a:latin typeface="Malgun Gothic Semilight" panose="020B0502040204020203" charset="-122"/>
                <a:cs typeface="Malgun Gothic Semilight" panose="020B0502040204020203" charset="-122"/>
              </a:rPr>
              <a:t>Admin</a:t>
            </a:r>
            <a:r>
              <a:rPr b="0" spc="22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50" dirty="0">
                <a:latin typeface="Malgun Gothic Semilight" panose="020B0502040204020203" charset="-122"/>
                <a:cs typeface="Malgun Gothic Semilight" panose="020B0502040204020203" charset="-122"/>
              </a:rPr>
              <a:t>Floating</a:t>
            </a:r>
            <a:r>
              <a:rPr b="0" spc="22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05" dirty="0">
                <a:latin typeface="Malgun Gothic Semilight" panose="020B0502040204020203" charset="-122"/>
                <a:cs typeface="Malgun Gothic Semilight" panose="020B0502040204020203" charset="-122"/>
              </a:rPr>
              <a:t>Chatbot</a:t>
            </a:r>
            <a:r>
              <a:rPr b="0" spc="18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b="0" spc="135" dirty="0">
                <a:latin typeface="Malgun Gothic Semilight" panose="020B0502040204020203" charset="-122"/>
                <a:cs typeface="Malgun Gothic Semilight" panose="020B0502040204020203" charset="-122"/>
              </a:rPr>
              <a:t>Feature</a:t>
            </a:r>
            <a:endParaRPr b="0" spc="135" dirty="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Quick</a:t>
            </a:r>
            <a:r>
              <a:rPr spc="-4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spc="65" dirty="0"/>
              <a:t>Interaction</a:t>
            </a:r>
            <a:endParaRPr spc="65" dirty="0"/>
          </a:p>
          <a:p>
            <a:pPr marL="203200">
              <a:lnSpc>
                <a:spcPct val="100000"/>
              </a:lnSpc>
              <a:spcBef>
                <a:spcPts val="1620"/>
              </a:spcBef>
            </a:pPr>
            <a:r>
              <a:rPr sz="1800" b="1" spc="-9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Floating</a:t>
            </a:r>
            <a:r>
              <a:rPr sz="1800" b="1" spc="-10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Icon</a:t>
            </a:r>
            <a:r>
              <a:rPr sz="1800" b="1" spc="-15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-10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Accessible</a:t>
            </a:r>
            <a:r>
              <a:rPr sz="1800" spc="-4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any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admin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 page</a:t>
            </a:r>
            <a:endParaRPr sz="1800" dirty="0">
              <a:latin typeface="Arial MT"/>
              <a:cs typeface="Arial MT"/>
            </a:endParaRPr>
          </a:p>
          <a:p>
            <a:pPr marL="203200" marR="5080">
              <a:lnSpc>
                <a:spcPts val="4200"/>
              </a:lnSpc>
              <a:spcBef>
                <a:spcPts val="280"/>
              </a:spcBef>
            </a:pPr>
            <a:r>
              <a:rPr sz="1800" b="1" spc="-8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Instant</a:t>
            </a:r>
            <a:r>
              <a:rPr sz="1800" b="1" spc="-13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1800" b="1" spc="-23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3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One-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click</a:t>
            </a:r>
            <a:r>
              <a:rPr sz="1800" spc="-5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chatbot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testing </a:t>
            </a:r>
            <a:r>
              <a:rPr sz="1800" b="1" spc="-11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Efficiency</a:t>
            </a:r>
            <a:r>
              <a:rPr sz="1800" b="1" spc="-19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Monitor</a:t>
            </a:r>
            <a:r>
              <a:rPr sz="1800" spc="-7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AI behavior</a:t>
            </a:r>
            <a:r>
              <a:rPr sz="1800" spc="-3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in</a:t>
            </a:r>
            <a:r>
              <a:rPr sz="1800" spc="2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real-</a:t>
            </a:r>
            <a:r>
              <a:rPr sz="1800" spc="-20" dirty="0">
                <a:solidFill>
                  <a:srgbClr val="465469"/>
                </a:solidFill>
                <a:latin typeface="Arial MT"/>
                <a:cs typeface="Arial MT"/>
              </a:rPr>
              <a:t>time </a:t>
            </a:r>
            <a:r>
              <a:rPr sz="1800" b="1" spc="-10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Seamless</a:t>
            </a:r>
            <a:r>
              <a:rPr sz="1800" b="1" spc="-33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0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UI</a:t>
            </a:r>
            <a:r>
              <a:rPr sz="1800" b="1" spc="-85" dirty="0">
                <a:solidFill>
                  <a:srgbClr val="4654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-</a:t>
            </a:r>
            <a:r>
              <a:rPr sz="1800" spc="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Minimal</a:t>
            </a:r>
            <a:r>
              <a:rPr sz="1800" spc="-15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impact</a:t>
            </a:r>
            <a:r>
              <a:rPr sz="1800" spc="-4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5469"/>
                </a:solidFill>
                <a:latin typeface="Arial MT"/>
                <a:cs typeface="Arial MT"/>
              </a:rPr>
              <a:t>dashboard</a:t>
            </a:r>
            <a:r>
              <a:rPr sz="1800" spc="-60" dirty="0">
                <a:solidFill>
                  <a:srgbClr val="46546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Arial MT"/>
                <a:cs typeface="Arial MT"/>
              </a:rPr>
              <a:t>space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954023"/>
              <a:ext cx="11049000" cy="551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808" y="2758439"/>
              <a:ext cx="4895088" cy="969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19" y="3099816"/>
              <a:ext cx="362711" cy="2865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568" y="3907535"/>
              <a:ext cx="4910328" cy="6278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80" y="4078223"/>
              <a:ext cx="283464" cy="2865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863" y="4715255"/>
              <a:ext cx="4861560" cy="6278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2376" y="4885944"/>
              <a:ext cx="286511" cy="2865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7647" y="1944624"/>
              <a:ext cx="5279136" cy="42854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53455" y="1652016"/>
              <a:ext cx="6504432" cy="4459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9623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Admin</a:t>
            </a:r>
            <a:r>
              <a:rPr spc="-150" dirty="0"/>
              <a:t> </a:t>
            </a:r>
            <a:r>
              <a:rPr dirty="0"/>
              <a:t>Monitoring</a:t>
            </a:r>
            <a:r>
              <a:rPr spc="-18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14" name="object 14"/>
          <p:cNvSpPr txBox="1"/>
          <p:nvPr/>
        </p:nvSpPr>
        <p:spPr>
          <a:xfrm>
            <a:off x="1397635" y="2846975"/>
            <a:ext cx="3372485" cy="250063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User</a:t>
            </a:r>
            <a:r>
              <a:rPr sz="1800" spc="-7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Management</a:t>
            </a:r>
            <a:r>
              <a:rPr sz="1800" spc="-3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-</a:t>
            </a:r>
            <a:r>
              <a:rPr sz="1800" spc="-19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Track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L="9525" algn="ctr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regis</a:t>
            </a:r>
            <a:r>
              <a:rPr sz="1800" spc="-34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trations</a:t>
            </a:r>
            <a:r>
              <a:rPr sz="1800" spc="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and</a:t>
            </a:r>
            <a:r>
              <a:rPr sz="1800" spc="-1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activity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R="88265" algn="ctr">
              <a:lnSpc>
                <a:spcPct val="100000"/>
              </a:lnSpc>
              <a:spcBef>
                <a:spcPts val="2835"/>
              </a:spcBef>
            </a:pP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Conversation</a:t>
            </a:r>
            <a:r>
              <a:rPr sz="1800" spc="5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L</a:t>
            </a:r>
            <a:r>
              <a:rPr sz="1800" spc="-21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ogs</a:t>
            </a:r>
            <a:r>
              <a:rPr sz="1800" spc="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-</a:t>
            </a:r>
            <a:r>
              <a:rPr sz="1800" spc="-7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5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Monitor</a:t>
            </a:r>
            <a:r>
              <a:rPr sz="1800" spc="-6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2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AI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R="99060" algn="ctr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interactions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algn="ctr">
              <a:lnSpc>
                <a:spcPct val="100000"/>
              </a:lnSpc>
              <a:spcBef>
                <a:spcPts val="1480"/>
              </a:spcBef>
            </a:pP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System</a:t>
            </a:r>
            <a:r>
              <a:rPr sz="1800" spc="-9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Analytics</a:t>
            </a:r>
            <a:r>
              <a:rPr sz="1800" spc="-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-</a:t>
            </a:r>
            <a:r>
              <a:rPr sz="1800" spc="-19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Analyze</a:t>
            </a:r>
            <a:r>
              <a:rPr sz="1800" spc="1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us</a:t>
            </a:r>
            <a:r>
              <a:rPr sz="1800" spc="-32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2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age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  <a:p>
            <a:pPr marR="5080" algn="ctr">
              <a:lnSpc>
                <a:spcPct val="100000"/>
              </a:lnSpc>
              <a:spcBef>
                <a:spcPts val="555"/>
              </a:spcBef>
            </a:pPr>
            <a:r>
              <a:rPr sz="18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statis</a:t>
            </a:r>
            <a:r>
              <a:rPr sz="1800" spc="-254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1800" spc="-2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tics</a:t>
            </a:r>
            <a:endParaRPr sz="180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0"/>
            <a:ext cx="12192000" cy="6477000"/>
            <a:chOff x="0" y="381000"/>
            <a:chExt cx="12192000" cy="647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381000"/>
              <a:ext cx="12192000" cy="647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7552" y="1496567"/>
              <a:ext cx="716279" cy="5730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344" y="1496567"/>
              <a:ext cx="646176" cy="573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3031" y="1496567"/>
              <a:ext cx="646176" cy="5730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63009" y="2369896"/>
            <a:ext cx="3627754" cy="827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50" b="0" spc="265" dirty="0">
                <a:latin typeface="Malgun Gothic Semilight" panose="020B0502040204020203" charset="-122"/>
                <a:cs typeface="Malgun Gothic Semilight" panose="020B0502040204020203" charset="-122"/>
              </a:rPr>
              <a:t>Conclus</a:t>
            </a:r>
            <a:r>
              <a:rPr sz="5250" b="0" spc="-700" dirty="0"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5250" b="0" spc="110" dirty="0">
                <a:latin typeface="Malgun Gothic Semilight" panose="020B0502040204020203" charset="-122"/>
                <a:cs typeface="Malgun Gothic Semilight" panose="020B0502040204020203" charset="-122"/>
              </a:rPr>
              <a:t>ion</a:t>
            </a:r>
            <a:endParaRPr sz="525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6683" y="3414258"/>
            <a:ext cx="8342630" cy="89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340" marR="5080" indent="-549275">
              <a:lnSpc>
                <a:spcPct val="118000"/>
              </a:lnSpc>
              <a:spcBef>
                <a:spcPts val="95"/>
              </a:spcBef>
            </a:pP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WellBot</a:t>
            </a:r>
            <a:r>
              <a:rPr sz="2400" spc="-114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is</a:t>
            </a:r>
            <a:r>
              <a:rPr sz="2400" spc="31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an</a:t>
            </a:r>
            <a:r>
              <a:rPr sz="2400" spc="5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intelligent</a:t>
            </a:r>
            <a:r>
              <a:rPr sz="2400" spc="-3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wellness</a:t>
            </a:r>
            <a:r>
              <a:rPr sz="2400" spc="31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-3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platform</a:t>
            </a:r>
            <a:r>
              <a:rPr sz="2400" spc="-5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designed</a:t>
            </a:r>
            <a:r>
              <a:rPr sz="2400" spc="-2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-3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to</a:t>
            </a:r>
            <a:r>
              <a:rPr sz="2400" spc="-1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provide </a:t>
            </a:r>
            <a:r>
              <a:rPr sz="2400" spc="6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accessible</a:t>
            </a:r>
            <a:r>
              <a:rPr sz="2400" spc="12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healthcare</a:t>
            </a:r>
            <a:r>
              <a:rPr sz="2400" spc="12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7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assistance</a:t>
            </a:r>
            <a:r>
              <a:rPr sz="2400" spc="1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using</a:t>
            </a:r>
            <a:r>
              <a:rPr sz="2400" spc="-165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AI</a:t>
            </a:r>
            <a:r>
              <a:rPr sz="2400" spc="12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400" spc="-10" dirty="0">
                <a:solidFill>
                  <a:srgbClr val="465469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technology.</a:t>
            </a:r>
            <a:endParaRPr sz="240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0636" y="5478881"/>
            <a:ext cx="6550025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spc="-2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Faster,</a:t>
            </a:r>
            <a:r>
              <a:rPr sz="2100" spc="-14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Smarter,</a:t>
            </a:r>
            <a:r>
              <a:rPr sz="2100" spc="-6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and</a:t>
            </a:r>
            <a:r>
              <a:rPr sz="2100" spc="-8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Accessible</a:t>
            </a:r>
            <a:r>
              <a:rPr sz="2100" spc="-65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Healthcare</a:t>
            </a:r>
            <a:r>
              <a:rPr sz="2100" spc="-45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for</a:t>
            </a:r>
            <a:r>
              <a:rPr sz="2100" spc="-125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 </a:t>
            </a:r>
            <a:r>
              <a:rPr sz="2100" spc="-10" dirty="0">
                <a:solidFill>
                  <a:srgbClr val="1F395F"/>
                </a:solidFill>
                <a:latin typeface="Malgun Gothic Semilight" panose="020B0502040204020203" charset="-122"/>
                <a:cs typeface="Malgun Gothic Semilight" panose="020B0502040204020203" charset="-122"/>
              </a:rPr>
              <a:t>Everyone.</a:t>
            </a:r>
            <a:endParaRPr sz="2100">
              <a:latin typeface="Malgun Gothic Semilight" panose="020B0502040204020203" charset="-122"/>
              <a:cs typeface="Malgun Gothic Semilight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4297</Words>
  <Application>WPS Presentation</Application>
  <PresentationFormat>Custom</PresentationFormat>
  <Paragraphs>181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Arial</vt:lpstr>
      <vt:lpstr>Malgun Gothic Semilight</vt:lpstr>
      <vt:lpstr>Comfortaa</vt:lpstr>
      <vt:lpstr>Segoe Print</vt:lpstr>
      <vt:lpstr>Afacad Flux</vt:lpstr>
      <vt:lpstr>Wingdings</vt:lpstr>
      <vt:lpstr>Verdana</vt:lpstr>
      <vt:lpstr>Lucida Sans Unicode</vt:lpstr>
      <vt:lpstr>Arial MT</vt:lpstr>
      <vt:lpstr>Segoe UI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Problem Statement</vt:lpstr>
      <vt:lpstr>WellBot – AI Powered Wellness Chatbot Platform</vt:lpstr>
      <vt:lpstr>System Architecture</vt:lpstr>
      <vt:lpstr>Transforming Healthcare Access</vt:lpstr>
      <vt:lpstr>Multi-L anguage S upport</vt:lpstr>
      <vt:lpstr>Dynamic Theme System</vt:lpstr>
      <vt:lpstr>Real-Time Activity Tracking</vt:lpstr>
      <vt:lpstr>Admin Floating Chatbot Feature</vt:lpstr>
      <vt:lpstr>Admin Monitoring System</vt:lpstr>
      <vt:lpstr>Conclus 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 Avinash Gouda</dc:creator>
  <cp:lastModifiedBy>Sakshi Z</cp:lastModifiedBy>
  <cp:revision>3</cp:revision>
  <dcterms:created xsi:type="dcterms:W3CDTF">2026-03-13T13:31:00Z</dcterms:created>
  <dcterms:modified xsi:type="dcterms:W3CDTF">2026-03-17T15:28:16Z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2026-03-13T05:30:00Z</vt:filetime>
  </property>
  <property fmtid="{D5CDD505-2E9C-101B-9397-08002B2CF9AE}" pid="3" name="LastSaved">
    <vt:filetime>2026-03-13T05:30:00Z</vt:filetime>
  </property>
  <property fmtid="{D5CDD505-2E9C-101B-9397-08002B2CF9AE}" pid="4" name="Producer">
    <vt:lpwstr>iLovePDF</vt:lpwstr>
  </property>
  <property fmtid="{D5CDD505-2E9C-101B-9397-08002B2CF9AE}" pid="5" name="ICV">
    <vt:lpwstr>A8A59D01FBEA4B8C837B8BD0E91046DB_12</vt:lpwstr>
  </property>
  <property fmtid="{D5CDD505-2E9C-101B-9397-08002B2CF9AE}" pid="6" name="KSOProductBuildVer">
    <vt:lpwstr>1033-12.2.0.23196</vt:lpwstr>
  </property>
</Properties>
</file>