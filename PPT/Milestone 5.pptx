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8"/>
  </p:notesMasterIdLst>
  <p:sldIdLst>
    <p:sldId id="262" r:id="rId3"/>
    <p:sldId id="265" r:id="rId4"/>
    <p:sldId id="263" r:id="rId5"/>
    <p:sldId id="264" r:id="rId6"/>
    <p:sldId id="256" r:id="rId7"/>
    <p:sldId id="257" r:id="rId9"/>
    <p:sldId id="258" r:id="rId10"/>
    <p:sldId id="259" r:id="rId11"/>
    <p:sldId id="260" r:id="rId12"/>
    <p:sldId id="261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20.png"/><Relationship Id="rId8" Type="http://schemas.openxmlformats.org/officeDocument/2006/relationships/image" Target="../media/image19.png"/><Relationship Id="rId7" Type="http://schemas.openxmlformats.org/officeDocument/2006/relationships/image" Target="../media/image18.png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3" Type="http://schemas.openxmlformats.org/officeDocument/2006/relationships/notesSlide" Target="../notesSlides/notesSlide5.xml"/><Relationship Id="rId12" Type="http://schemas.openxmlformats.org/officeDocument/2006/relationships/slideLayout" Target="../slideLayouts/slideLayout1.xml"/><Relationship Id="rId11" Type="http://schemas.openxmlformats.org/officeDocument/2006/relationships/image" Target="../media/image22.png"/><Relationship Id="rId10" Type="http://schemas.openxmlformats.org/officeDocument/2006/relationships/image" Target="../media/image21.png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3" Type="http://schemas.openxmlformats.org/officeDocument/2006/relationships/image" Target="../media/image23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1329055" y="1668145"/>
            <a:ext cx="9230995" cy="21920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IN" altLang="zh-CN" sz="3600" b="1">
                <a:solidFill>
                  <a:schemeClr val="accent1">
                    <a:lumMod val="50000"/>
                  </a:schemeClr>
                </a:solidFill>
                <a:latin typeface="Comfortaa" pitchFamily="34" charset="0"/>
                <a:cs typeface="Comfortaa" pitchFamily="34" charset="0"/>
              </a:rPr>
              <a:t>                </a:t>
            </a:r>
            <a:r>
              <a:rPr lang="zh-CN" altLang="en-US" sz="3600" b="1">
                <a:solidFill>
                  <a:schemeClr val="accent1">
                    <a:lumMod val="50000"/>
                  </a:schemeClr>
                </a:solidFill>
                <a:latin typeface="Comfortaa" pitchFamily="34" charset="0"/>
                <a:cs typeface="Comfortaa" pitchFamily="34" charset="0"/>
              </a:rPr>
              <a:t>🌿</a:t>
            </a:r>
            <a:r>
              <a:rPr lang="en-US" altLang="en-US" sz="3600" b="1">
                <a:solidFill>
                  <a:schemeClr val="accent1">
                    <a:lumMod val="50000"/>
                  </a:schemeClr>
                </a:solidFill>
                <a:latin typeface="Comfortaa" pitchFamily="34" charset="0"/>
                <a:cs typeface="Comfortaa" pitchFamily="34" charset="0"/>
              </a:rPr>
              <a:t> WellBot  </a:t>
            </a:r>
            <a:endParaRPr lang="en-US" altLang="en-US" sz="3600" b="1">
              <a:solidFill>
                <a:schemeClr val="accent1">
                  <a:lumMod val="50000"/>
                </a:schemeClr>
              </a:solidFill>
              <a:latin typeface="Comfortaa" pitchFamily="34" charset="0"/>
              <a:cs typeface="Comfortaa" pitchFamily="34" charset="0"/>
            </a:endParaRPr>
          </a:p>
          <a:p>
            <a:r>
              <a:rPr lang="en-US" altLang="en-US" sz="3600" b="1">
                <a:solidFill>
                  <a:schemeClr val="accent1">
                    <a:lumMod val="50000"/>
                  </a:schemeClr>
                </a:solidFill>
                <a:latin typeface="Comfortaa" pitchFamily="34" charset="0"/>
                <a:cs typeface="Comfortaa" pitchFamily="34" charset="0"/>
              </a:rPr>
              <a:t>AI Powered Wellness Chatbot Platform</a:t>
            </a:r>
            <a:endParaRPr lang="en-US" altLang="en-US" sz="3600" b="1">
              <a:solidFill>
                <a:schemeClr val="accent1">
                  <a:lumMod val="50000"/>
                </a:schemeClr>
              </a:solidFill>
              <a:latin typeface="Comfortaa" pitchFamily="34" charset="0"/>
              <a:cs typeface="Comfortaa" pitchFamily="34" charset="0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26" t="16393" r="16918" b="19542"/>
          <a:stretch>
            <a:fillRect/>
          </a:stretch>
        </p:blipFill>
        <p:spPr>
          <a:xfrm>
            <a:off x="3715588" y="3428819"/>
            <a:ext cx="4668714" cy="25202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752475" y="2075180"/>
            <a:ext cx="721550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sz="2800" b="1" u="sng">
                <a:solidFill>
                  <a:schemeClr val="accent1">
                    <a:lumMod val="50000"/>
                  </a:schemeClr>
                </a:solidFill>
                <a:latin typeface="Comfortaa" pitchFamily="34" charset="0"/>
                <a:cs typeface="Comfortaa" pitchFamily="34" charset="0"/>
              </a:rPr>
              <a:t>GROUP MEMBERS NAME</a:t>
            </a:r>
            <a:endParaRPr lang="en-IN" altLang="en-US" sz="2800" b="1" u="sng">
              <a:solidFill>
                <a:schemeClr val="accent1">
                  <a:lumMod val="50000"/>
                </a:schemeClr>
              </a:solidFill>
              <a:latin typeface="Comfortaa" pitchFamily="34" charset="0"/>
              <a:cs typeface="Comfortaa" pitchFamily="3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1334770" y="3093720"/>
            <a:ext cx="570865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>
                <a:latin typeface="Afacad Flux" pitchFamily="34" charset="0"/>
                <a:cs typeface="Afacad Flux" pitchFamily="34" charset="0"/>
              </a:rPr>
              <a:t>1.  Avinash</a:t>
            </a:r>
            <a:endParaRPr lang="en-IN" altLang="en-US">
              <a:latin typeface="Afacad Flux" pitchFamily="34" charset="0"/>
              <a:cs typeface="Afacad Flux" pitchFamily="34" charset="0"/>
            </a:endParaRPr>
          </a:p>
          <a:p>
            <a:r>
              <a:rPr lang="en-IN" altLang="en-US">
                <a:latin typeface="Afacad Flux" pitchFamily="34" charset="0"/>
                <a:cs typeface="Afacad Flux" pitchFamily="34" charset="0"/>
              </a:rPr>
              <a:t>2.  Harika</a:t>
            </a:r>
            <a:endParaRPr lang="en-IN" altLang="en-US">
              <a:latin typeface="Afacad Flux" pitchFamily="34" charset="0"/>
              <a:cs typeface="Afacad Flux" pitchFamily="34" charset="0"/>
            </a:endParaRPr>
          </a:p>
          <a:p>
            <a:r>
              <a:rPr lang="en-IN" altLang="en-US">
                <a:latin typeface="Afacad Flux" pitchFamily="34" charset="0"/>
                <a:cs typeface="Afacad Flux" pitchFamily="34" charset="0"/>
              </a:rPr>
              <a:t>3.  Sameer</a:t>
            </a:r>
            <a:endParaRPr lang="en-IN" altLang="en-US">
              <a:latin typeface="Afacad Flux" pitchFamily="34" charset="0"/>
              <a:cs typeface="Afacad Flux" pitchFamily="34" charset="0"/>
            </a:endParaRPr>
          </a:p>
          <a:p>
            <a:r>
              <a:rPr lang="en-IN" altLang="en-US">
                <a:latin typeface="Afacad Flux" pitchFamily="34" charset="0"/>
                <a:cs typeface="Afacad Flux" pitchFamily="34" charset="0"/>
              </a:rPr>
              <a:t>4.  Sakshi</a:t>
            </a:r>
            <a:endParaRPr lang="en-IN" altLang="en-US">
              <a:latin typeface="Afacad Flux" pitchFamily="34" charset="0"/>
              <a:cs typeface="Afacad Flux" pitchFamily="34" charset="0"/>
            </a:endParaRPr>
          </a:p>
          <a:p>
            <a:r>
              <a:rPr lang="en-IN" altLang="en-US">
                <a:latin typeface="Afacad Flux" pitchFamily="34" charset="0"/>
                <a:cs typeface="Afacad Flux" pitchFamily="34" charset="0"/>
              </a:rPr>
              <a:t>5.  Tejaswini</a:t>
            </a:r>
            <a:endParaRPr lang="en-IN" altLang="en-US">
              <a:latin typeface="Afacad Flux" pitchFamily="34" charset="0"/>
              <a:cs typeface="Afacad Flux" pitchFamily="34" charset="0"/>
            </a:endParaRPr>
          </a:p>
          <a:p>
            <a:r>
              <a:rPr lang="en-IN" altLang="en-US">
                <a:latin typeface="Afacad Flux" pitchFamily="34" charset="0"/>
                <a:cs typeface="Afacad Flux" pitchFamily="34" charset="0"/>
              </a:rPr>
              <a:t>6.  Apeksha</a:t>
            </a:r>
            <a:endParaRPr lang="en-IN" altLang="en-US">
              <a:latin typeface="Afacad Flux" pitchFamily="34" charset="0"/>
              <a:cs typeface="Afacad Flux" pitchFamily="34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645795" y="1183005"/>
            <a:ext cx="7087235" cy="11074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IN" altLang="en-US" sz="3200" b="1" u="sng">
                <a:solidFill>
                  <a:schemeClr val="accent1">
                    <a:lumMod val="50000"/>
                  </a:schemeClr>
                </a:solidFill>
                <a:latin typeface="Comfortaa" pitchFamily="34" charset="0"/>
                <a:cs typeface="Comfortaa" pitchFamily="34" charset="0"/>
              </a:rPr>
              <a:t>Batch number 13 // TEAM A</a:t>
            </a:r>
            <a:endParaRPr lang="en-IN" altLang="en-US" sz="3200" b="1" u="sng">
              <a:solidFill>
                <a:schemeClr val="accent1">
                  <a:lumMod val="50000"/>
                </a:schemeClr>
              </a:solidFill>
              <a:latin typeface="Comfortaa" pitchFamily="34" charset="0"/>
              <a:cs typeface="Comfortaa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1962150" y="791210"/>
            <a:ext cx="85737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2290445" y="791210"/>
            <a:ext cx="5899150" cy="12585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4000" b="1">
                <a:solidFill>
                  <a:schemeClr val="accent1">
                    <a:lumMod val="50000"/>
                  </a:schemeClr>
                </a:solidFill>
                <a:latin typeface="Comfortaa" pitchFamily="34" charset="0"/>
                <a:cs typeface="Comfortaa" pitchFamily="34" charset="0"/>
              </a:rPr>
              <a:t>Project Overview</a:t>
            </a:r>
            <a:endParaRPr lang="en-US" altLang="en-US" sz="4000" b="1">
              <a:solidFill>
                <a:schemeClr val="accent1">
                  <a:lumMod val="50000"/>
                </a:schemeClr>
              </a:solidFill>
              <a:latin typeface="Comfortaa" pitchFamily="34" charset="0"/>
              <a:cs typeface="Comfortaa" pitchFamily="34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1304925" y="2626995"/>
            <a:ext cx="7277735" cy="41090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400" b="1">
                <a:solidFill>
                  <a:schemeClr val="accent1">
                    <a:lumMod val="50000"/>
                  </a:schemeClr>
                </a:solidFill>
                <a:latin typeface="Afacad Flux" pitchFamily="34" charset="0"/>
                <a:cs typeface="Afacad Flux" pitchFamily="34" charset="0"/>
              </a:rPr>
              <a:t>What the system does:</a:t>
            </a:r>
            <a:endParaRPr lang="en-US" altLang="en-US" sz="2400" b="1">
              <a:solidFill>
                <a:schemeClr val="accent1">
                  <a:lumMod val="50000"/>
                </a:schemeClr>
              </a:solidFill>
              <a:latin typeface="Afacad Flux" pitchFamily="34" charset="0"/>
              <a:cs typeface="Afacad Flux" pitchFamily="34" charset="0"/>
            </a:endParaRPr>
          </a:p>
          <a:p>
            <a:endParaRPr lang="en-US" altLang="en-US"/>
          </a:p>
          <a:p>
            <a:pPr marL="285750" indent="-285750">
              <a:buFont typeface="Wingdings" panose="05000000000000000000" charset="0"/>
              <a:buChar char="§"/>
            </a:pPr>
            <a:r>
              <a:rPr lang="en-US" altLang="en-US"/>
              <a:t> </a:t>
            </a:r>
            <a:r>
              <a:rPr lang="en-US" altLang="en-US">
                <a:solidFill>
                  <a:schemeClr val="accent1">
                    <a:lumMod val="50000"/>
                  </a:schemeClr>
                </a:solidFill>
                <a:latin typeface="Afacad Flux" pitchFamily="34" charset="0"/>
                <a:cs typeface="Afacad Flux" pitchFamily="34" charset="0"/>
              </a:rPr>
              <a:t>AI-based wellness assistant</a:t>
            </a:r>
            <a:endParaRPr lang="en-US" altLang="en-US">
              <a:solidFill>
                <a:schemeClr val="accent1">
                  <a:lumMod val="50000"/>
                </a:schemeClr>
              </a:solidFill>
              <a:latin typeface="Afacad Flux" pitchFamily="34" charset="0"/>
              <a:cs typeface="Afacad Flux" pitchFamily="34" charset="0"/>
            </a:endParaRPr>
          </a:p>
          <a:p>
            <a:pPr marL="285750" indent="-285750">
              <a:buFont typeface="Wingdings" panose="05000000000000000000" charset="0"/>
              <a:buChar char="§"/>
            </a:pPr>
            <a:r>
              <a:rPr lang="en-US" altLang="en-US">
                <a:solidFill>
                  <a:schemeClr val="accent1">
                    <a:lumMod val="50000"/>
                  </a:schemeClr>
                </a:solidFill>
                <a:latin typeface="Afacad Flux" pitchFamily="34" charset="0"/>
                <a:cs typeface="Afacad Flux" pitchFamily="34" charset="0"/>
              </a:rPr>
              <a:t>Chatbot for health guidance</a:t>
            </a:r>
            <a:endParaRPr lang="en-US" altLang="en-US">
              <a:solidFill>
                <a:schemeClr val="accent1">
                  <a:lumMod val="50000"/>
                </a:schemeClr>
              </a:solidFill>
              <a:latin typeface="Afacad Flux" pitchFamily="34" charset="0"/>
              <a:cs typeface="Afacad Flux" pitchFamily="34" charset="0"/>
            </a:endParaRPr>
          </a:p>
          <a:p>
            <a:pPr marL="285750" indent="-285750">
              <a:buFont typeface="Wingdings" panose="05000000000000000000" charset="0"/>
              <a:buChar char="§"/>
            </a:pPr>
            <a:r>
              <a:rPr lang="en-US" altLang="en-US">
                <a:solidFill>
                  <a:schemeClr val="accent1">
                    <a:lumMod val="50000"/>
                  </a:schemeClr>
                </a:solidFill>
                <a:latin typeface="Afacad Flux" pitchFamily="34" charset="0"/>
                <a:cs typeface="Afacad Flux" pitchFamily="34" charset="0"/>
              </a:rPr>
              <a:t>Prescription image analysis</a:t>
            </a:r>
            <a:endParaRPr lang="en-US" altLang="en-US">
              <a:solidFill>
                <a:schemeClr val="accent1">
                  <a:lumMod val="50000"/>
                </a:schemeClr>
              </a:solidFill>
              <a:latin typeface="Afacad Flux" pitchFamily="34" charset="0"/>
              <a:cs typeface="Afacad Flux" pitchFamily="34" charset="0"/>
            </a:endParaRPr>
          </a:p>
          <a:p>
            <a:pPr marL="285750" indent="-285750">
              <a:buFont typeface="Wingdings" panose="05000000000000000000" charset="0"/>
              <a:buChar char="§"/>
            </a:pPr>
            <a:r>
              <a:rPr lang="en-US" altLang="en-US">
                <a:solidFill>
                  <a:schemeClr val="accent1">
                    <a:lumMod val="50000"/>
                  </a:schemeClr>
                </a:solidFill>
                <a:latin typeface="Afacad Flux" pitchFamily="34" charset="0"/>
                <a:cs typeface="Afacad Flux" pitchFamily="34" charset="0"/>
              </a:rPr>
              <a:t>User wellness dashboard</a:t>
            </a:r>
            <a:endParaRPr lang="en-US" altLang="en-US">
              <a:solidFill>
                <a:schemeClr val="accent1">
                  <a:lumMod val="50000"/>
                </a:schemeClr>
              </a:solidFill>
              <a:latin typeface="Afacad Flux" pitchFamily="34" charset="0"/>
              <a:cs typeface="Afacad Flux" pitchFamily="34" charset="0"/>
            </a:endParaRPr>
          </a:p>
          <a:p>
            <a:pPr marL="285750" indent="-285750">
              <a:buFont typeface="Wingdings" panose="05000000000000000000" charset="0"/>
              <a:buChar char="§"/>
            </a:pPr>
            <a:r>
              <a:rPr lang="en-US" altLang="en-US">
                <a:solidFill>
                  <a:schemeClr val="accent1">
                    <a:lumMod val="50000"/>
                  </a:schemeClr>
                </a:solidFill>
                <a:latin typeface="Afacad Flux" pitchFamily="34" charset="0"/>
                <a:cs typeface="Afacad Flux" pitchFamily="34" charset="0"/>
              </a:rPr>
              <a:t>Admin monitoring system</a:t>
            </a:r>
            <a:endParaRPr lang="en-US" altLang="en-US">
              <a:solidFill>
                <a:schemeClr val="accent1">
                  <a:lumMod val="50000"/>
                </a:schemeClr>
              </a:solidFill>
              <a:latin typeface="Afacad Flux" pitchFamily="34" charset="0"/>
              <a:cs typeface="Afacad Flux" pitchFamily="34" charset="0"/>
            </a:endParaRPr>
          </a:p>
          <a:p>
            <a:endParaRPr lang="en-US" altLang="en-US">
              <a:solidFill>
                <a:schemeClr val="accent1">
                  <a:lumMod val="50000"/>
                </a:schemeClr>
              </a:solidFill>
              <a:latin typeface="Afacad Flux" pitchFamily="34" charset="0"/>
              <a:cs typeface="Afacad Flux" pitchFamily="34" charset="0"/>
            </a:endParaRPr>
          </a:p>
        </p:txBody>
      </p:sp>
      <p:pic>
        <p:nvPicPr>
          <p:cNvPr id="9" name="Picture Placeholder 17" descr="A person drawing on a white board"/>
          <p:cNvPicPr>
            <a:picLocks noGrp="1" noChangeAspect="1"/>
          </p:cNvPicPr>
          <p:nvPr/>
        </p:nvPicPr>
        <p:blipFill rotWithShape="1">
          <a:blip r:embed="rId1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694805" y="2326640"/>
            <a:ext cx="3456305" cy="3456305"/>
          </a:xfrm>
          <a:custGeom>
            <a:avLst/>
            <a:gdLst>
              <a:gd name="connsiteX0" fmla="*/ 2566194 w 5132388"/>
              <a:gd name="connsiteY0" fmla="*/ 0 h 5132388"/>
              <a:gd name="connsiteX1" fmla="*/ 5132388 w 5132388"/>
              <a:gd name="connsiteY1" fmla="*/ 2566194 h 5132388"/>
              <a:gd name="connsiteX2" fmla="*/ 2566194 w 5132388"/>
              <a:gd name="connsiteY2" fmla="*/ 5132388 h 5132388"/>
              <a:gd name="connsiteX3" fmla="*/ 0 w 5132388"/>
              <a:gd name="connsiteY3" fmla="*/ 2566194 h 5132388"/>
              <a:gd name="connsiteX4" fmla="*/ 2566194 w 5132388"/>
              <a:gd name="connsiteY4" fmla="*/ 0 h 5132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32388" h="5132388">
                <a:moveTo>
                  <a:pt x="2566194" y="0"/>
                </a:moveTo>
                <a:cubicBezTo>
                  <a:pt x="3983464" y="0"/>
                  <a:pt x="5132388" y="1148924"/>
                  <a:pt x="5132388" y="2566194"/>
                </a:cubicBezTo>
                <a:cubicBezTo>
                  <a:pt x="5132388" y="3983464"/>
                  <a:pt x="3983464" y="5132388"/>
                  <a:pt x="2566194" y="5132388"/>
                </a:cubicBezTo>
                <a:cubicBezTo>
                  <a:pt x="1148924" y="5132388"/>
                  <a:pt x="0" y="3983464"/>
                  <a:pt x="0" y="2566194"/>
                </a:cubicBezTo>
                <a:cubicBezTo>
                  <a:pt x="0" y="1148924"/>
                  <a:pt x="1148924" y="0"/>
                  <a:pt x="2566194" y="0"/>
                </a:cubicBezTo>
                <a:close/>
              </a:path>
            </a:pathLst>
          </a:custGeom>
          <a:solidFill>
            <a:schemeClr val="accent5"/>
          </a:solidFill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4670" y="1029335"/>
            <a:ext cx="10515600" cy="1325563"/>
          </a:xfrm>
        </p:spPr>
        <p:txBody>
          <a:bodyPr/>
          <a:p>
            <a:r>
              <a:rPr lang="en-US" altLang="en-US" sz="4000" b="1">
                <a:solidFill>
                  <a:schemeClr val="accent1">
                    <a:lumMod val="50000"/>
                  </a:schemeClr>
                </a:solidFill>
                <a:latin typeface="Comfortaa" pitchFamily="34" charset="0"/>
                <a:cs typeface="Comfortaa" pitchFamily="34" charset="0"/>
              </a:rPr>
              <a:t>Problem Statement</a:t>
            </a:r>
            <a:endParaRPr lang="en-US" altLang="en-US" sz="4000" b="1">
              <a:solidFill>
                <a:schemeClr val="accent1">
                  <a:lumMod val="50000"/>
                </a:schemeClr>
              </a:solidFill>
              <a:latin typeface="Comfortaa" pitchFamily="34" charset="0"/>
              <a:cs typeface="Comfortaa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534670" y="3115945"/>
            <a:ext cx="10709910" cy="1807210"/>
          </a:xfrm>
        </p:spPr>
        <p:txBody>
          <a:bodyPr/>
          <a:p>
            <a:r>
              <a:rPr lang="en-US" altLang="en-US" sz="1800">
                <a:solidFill>
                  <a:schemeClr val="accent1">
                    <a:lumMod val="50000"/>
                  </a:schemeClr>
                </a:solidFill>
                <a:latin typeface="Afacad Flux" pitchFamily="34" charset="0"/>
                <a:cs typeface="Afacad Flux" pitchFamily="34" charset="0"/>
              </a:rPr>
              <a:t> People struggle to understand prescriptions</a:t>
            </a:r>
            <a:endParaRPr lang="en-US" altLang="en-US" sz="1800">
              <a:solidFill>
                <a:schemeClr val="accent1">
                  <a:lumMod val="50000"/>
                </a:schemeClr>
              </a:solidFill>
              <a:latin typeface="Afacad Flux" pitchFamily="34" charset="0"/>
              <a:cs typeface="Afacad Flux" pitchFamily="34" charset="0"/>
            </a:endParaRPr>
          </a:p>
          <a:p>
            <a:r>
              <a:rPr lang="en-US" altLang="en-US" sz="1800">
                <a:solidFill>
                  <a:schemeClr val="accent1">
                    <a:lumMod val="50000"/>
                  </a:schemeClr>
                </a:solidFill>
                <a:latin typeface="Afacad Flux" pitchFamily="34" charset="0"/>
                <a:cs typeface="Afacad Flux" pitchFamily="34" charset="0"/>
              </a:rPr>
              <a:t> Limited access to quick health advice</a:t>
            </a:r>
            <a:endParaRPr lang="en-US" altLang="en-US" sz="1800">
              <a:solidFill>
                <a:schemeClr val="accent1">
                  <a:lumMod val="50000"/>
                </a:schemeClr>
              </a:solidFill>
              <a:latin typeface="Afacad Flux" pitchFamily="34" charset="0"/>
              <a:cs typeface="Afacad Flux" pitchFamily="34" charset="0"/>
            </a:endParaRPr>
          </a:p>
          <a:p>
            <a:r>
              <a:rPr lang="en-US" altLang="en-US" sz="1800">
                <a:solidFill>
                  <a:schemeClr val="accent1">
                    <a:lumMod val="50000"/>
                  </a:schemeClr>
                </a:solidFill>
                <a:latin typeface="Afacad Flux" pitchFamily="34" charset="0"/>
                <a:cs typeface="Afacad Flux" pitchFamily="34" charset="0"/>
              </a:rPr>
              <a:t> No centralized AI wellness platform</a:t>
            </a:r>
            <a:endParaRPr lang="en-US" altLang="en-US" sz="1800">
              <a:solidFill>
                <a:schemeClr val="accent1">
                  <a:lumMod val="50000"/>
                </a:schemeClr>
              </a:solidFill>
              <a:latin typeface="Afacad Flux" pitchFamily="34" charset="0"/>
              <a:cs typeface="Afacad Flux" pitchFamily="34" charset="0"/>
            </a:endParaRPr>
          </a:p>
          <a:p>
            <a:r>
              <a:rPr lang="en-US" altLang="en-US" sz="1800">
                <a:solidFill>
                  <a:schemeClr val="accent1">
                    <a:lumMod val="50000"/>
                  </a:schemeClr>
                </a:solidFill>
                <a:latin typeface="Afacad Flux" pitchFamily="34" charset="0"/>
                <a:cs typeface="Afacad Flux" pitchFamily="34" charset="0"/>
              </a:rPr>
              <a:t> Lack of personalized health tracking</a:t>
            </a:r>
            <a:endParaRPr lang="en-US" altLang="en-US" sz="1800">
              <a:solidFill>
                <a:schemeClr val="accent1">
                  <a:lumMod val="50000"/>
                </a:schemeClr>
              </a:solidFill>
              <a:latin typeface="Afacad Flux" pitchFamily="34" charset="0"/>
              <a:cs typeface="Afacad Flux" pitchFamily="34" charset="0"/>
            </a:endParaRPr>
          </a:p>
          <a:p>
            <a:endParaRPr lang="en-US" altLang="en-US">
              <a:solidFill>
                <a:schemeClr val="accent1">
                  <a:lumMod val="50000"/>
                </a:schemeClr>
              </a:solidFill>
            </a:endParaRPr>
          </a:p>
          <a:p>
            <a:endParaRPr lang="en-US" altLang="en-US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225" t="26894" r="3920" b="37397"/>
          <a:stretch>
            <a:fillRect/>
          </a:stretch>
        </p:blipFill>
        <p:spPr>
          <a:xfrm>
            <a:off x="6371649" y="2594610"/>
            <a:ext cx="5373066" cy="309634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7620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952500"/>
            <a:ext cx="11049000" cy="5524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2085975"/>
            <a:ext cx="5279827" cy="42862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5366" y="1914838"/>
            <a:ext cx="5814566" cy="4102149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809625" y="952500"/>
            <a:ext cx="12794111" cy="552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1F3A5F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Multi-Language Support</a:t>
            </a:r>
            <a:endParaRPr lang="en-US" sz="3900" dirty="0"/>
          </a:p>
        </p:txBody>
      </p:sp>
      <p:sp>
        <p:nvSpPr>
          <p:cNvPr id="8" name="Text 1"/>
          <p:cNvSpPr/>
          <p:nvPr/>
        </p:nvSpPr>
        <p:spPr>
          <a:xfrm>
            <a:off x="577900" y="2629049"/>
            <a:ext cx="5279975" cy="685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n-US" sz="1800" dirty="0">
                <a:solidFill>
                  <a:srgbClr val="475569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WellBot bridges the communication gap by offering support in multiple languages.</a:t>
            </a:r>
            <a:endParaRPr lang="en-US" sz="1800" dirty="0"/>
          </a:p>
        </p:txBody>
      </p:sp>
      <p:sp>
        <p:nvSpPr>
          <p:cNvPr id="9" name="Text 2"/>
          <p:cNvSpPr/>
          <p:nvPr/>
        </p:nvSpPr>
        <p:spPr>
          <a:xfrm>
            <a:off x="768400" y="3543449"/>
            <a:ext cx="8229600" cy="39052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475569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English</a:t>
            </a:r>
            <a:r>
              <a:rPr lang="en-US" sz="1800" dirty="0">
                <a:solidFill>
                  <a:srgbClr val="475569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 - Global accessibility</a:t>
            </a:r>
            <a:endParaRPr lang="en-US" sz="1800" dirty="0"/>
          </a:p>
        </p:txBody>
      </p:sp>
      <p:sp>
        <p:nvSpPr>
          <p:cNvPr id="10" name="Text 3"/>
          <p:cNvSpPr/>
          <p:nvPr/>
        </p:nvSpPr>
        <p:spPr>
          <a:xfrm>
            <a:off x="768400" y="4076849"/>
            <a:ext cx="6035040" cy="39052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475569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Hindi</a:t>
            </a:r>
            <a:r>
              <a:rPr lang="en-US" sz="1800" dirty="0">
                <a:solidFill>
                  <a:srgbClr val="475569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 - National reach</a:t>
            </a:r>
            <a:endParaRPr lang="en-US" sz="1800" dirty="0"/>
          </a:p>
        </p:txBody>
      </p:sp>
      <p:sp>
        <p:nvSpPr>
          <p:cNvPr id="11" name="Text 4"/>
          <p:cNvSpPr/>
          <p:nvPr/>
        </p:nvSpPr>
        <p:spPr>
          <a:xfrm>
            <a:off x="768400" y="4610249"/>
            <a:ext cx="8503920" cy="39052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475569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Kannada</a:t>
            </a:r>
            <a:r>
              <a:rPr lang="en-US" sz="1800" dirty="0">
                <a:solidFill>
                  <a:srgbClr val="475569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 - Regional localization</a:t>
            </a:r>
            <a:endParaRPr lang="en-US" sz="1800" dirty="0"/>
          </a:p>
        </p:txBody>
      </p:sp>
      <p:sp>
        <p:nvSpPr>
          <p:cNvPr id="12" name="Text 5"/>
          <p:cNvSpPr/>
          <p:nvPr/>
        </p:nvSpPr>
        <p:spPr>
          <a:xfrm>
            <a:off x="768400" y="5143649"/>
            <a:ext cx="9052560" cy="39052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475569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Spanish</a:t>
            </a:r>
            <a:r>
              <a:rPr lang="en-US" sz="1800" dirty="0">
                <a:solidFill>
                  <a:srgbClr val="475569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 - International expansion</a:t>
            </a:r>
            <a:endParaRPr lang="en-US" sz="1800" dirty="0"/>
          </a:p>
        </p:txBody>
      </p:sp>
      <p:sp>
        <p:nvSpPr>
          <p:cNvPr id="13" name="Text 6"/>
          <p:cNvSpPr/>
          <p:nvPr/>
        </p:nvSpPr>
        <p:spPr>
          <a:xfrm>
            <a:off x="577900" y="5724674"/>
            <a:ext cx="12618720" cy="3429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2ECC71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Enhancing communication for a healthier world.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7620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00546"/>
            <a:ext cx="11952914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414" y="1479797"/>
            <a:ext cx="4946303" cy="11049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7554" y="902597"/>
            <a:ext cx="5210176" cy="2518321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7554" y="3630316"/>
            <a:ext cx="5260628" cy="3048298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570539" y="1479797"/>
            <a:ext cx="4708178" cy="11049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1F3A5F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Dynamic Theme System</a:t>
            </a:r>
            <a:endParaRPr lang="en-US" sz="3900" dirty="0"/>
          </a:p>
        </p:txBody>
      </p:sp>
      <p:sp>
        <p:nvSpPr>
          <p:cNvPr id="8" name="Text 1"/>
          <p:cNvSpPr/>
          <p:nvPr/>
        </p:nvSpPr>
        <p:spPr>
          <a:xfrm>
            <a:off x="332414" y="3099047"/>
            <a:ext cx="4946600" cy="685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n-US" sz="1800" dirty="0">
                <a:solidFill>
                  <a:srgbClr val="475569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A customizable interface designed for user comfort and accessibility.</a:t>
            </a:r>
            <a:endParaRPr lang="en-US" sz="1800" dirty="0"/>
          </a:p>
        </p:txBody>
      </p:sp>
      <p:sp>
        <p:nvSpPr>
          <p:cNvPr id="9" name="Text 2"/>
          <p:cNvSpPr/>
          <p:nvPr/>
        </p:nvSpPr>
        <p:spPr>
          <a:xfrm>
            <a:off x="332414" y="4013447"/>
            <a:ext cx="0" cy="161925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3A5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
</a:t>
            </a:r>
            <a:endParaRPr lang="en-US" sz="1200" dirty="0"/>
          </a:p>
        </p:txBody>
      </p:sp>
      <p:sp>
        <p:nvSpPr>
          <p:cNvPr id="10" name="Text 3"/>
          <p:cNvSpPr/>
          <p:nvPr/>
        </p:nvSpPr>
        <p:spPr>
          <a:xfrm>
            <a:off x="522914" y="4337297"/>
            <a:ext cx="9875520" cy="39052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475569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Light Theme</a:t>
            </a:r>
            <a:r>
              <a:rPr lang="en-US" sz="1800" dirty="0">
                <a:solidFill>
                  <a:srgbClr val="475569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 - Professional and clean</a:t>
            </a:r>
            <a:endParaRPr lang="en-US" sz="1800" dirty="0"/>
          </a:p>
        </p:txBody>
      </p:sp>
      <p:sp>
        <p:nvSpPr>
          <p:cNvPr id="11" name="Text 4"/>
          <p:cNvSpPr/>
          <p:nvPr/>
        </p:nvSpPr>
        <p:spPr>
          <a:xfrm>
            <a:off x="522914" y="4870697"/>
            <a:ext cx="12070080" cy="39052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475569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Dark Theme</a:t>
            </a:r>
            <a:r>
              <a:rPr lang="en-US" sz="1800" dirty="0">
                <a:solidFill>
                  <a:srgbClr val="475569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 - Reduces eye strain in low light</a:t>
            </a:r>
            <a:endParaRPr lang="en-US" sz="1800" dirty="0"/>
          </a:p>
        </p:txBody>
      </p:sp>
      <p:sp>
        <p:nvSpPr>
          <p:cNvPr id="12" name="Text 5"/>
          <p:cNvSpPr/>
          <p:nvPr/>
        </p:nvSpPr>
        <p:spPr>
          <a:xfrm>
            <a:off x="522914" y="5404097"/>
            <a:ext cx="4755803" cy="73342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475569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Automatic Adaptation</a:t>
            </a:r>
            <a:r>
              <a:rPr lang="en-US" sz="1800" dirty="0">
                <a:solidFill>
                  <a:srgbClr val="475569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 - UI components adjust instantly</a:t>
            </a:r>
            <a:endParaRPr lang="en-US" sz="1800" dirty="0"/>
          </a:p>
        </p:txBody>
      </p:sp>
      <p:sp>
        <p:nvSpPr>
          <p:cNvPr id="13" name="Text 6"/>
          <p:cNvSpPr/>
          <p:nvPr/>
        </p:nvSpPr>
        <p:spPr>
          <a:xfrm>
            <a:off x="522914" y="6280397"/>
            <a:ext cx="13167360" cy="39052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475569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Readability</a:t>
            </a:r>
            <a:r>
              <a:rPr lang="en-US" sz="1800" dirty="0">
                <a:solidFill>
                  <a:srgbClr val="475569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 - High contrast for all environments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7620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952500"/>
            <a:ext cx="11049000" cy="5524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2085975"/>
            <a:ext cx="5279827" cy="42862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4125" y="2085975"/>
            <a:ext cx="5279827" cy="4286250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809625" y="952500"/>
            <a:ext cx="15701864" cy="552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1F3A5F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Real-Time Activity Tracking</a:t>
            </a:r>
            <a:endParaRPr lang="en-US" sz="3900" dirty="0"/>
          </a:p>
        </p:txBody>
      </p:sp>
      <p:sp>
        <p:nvSpPr>
          <p:cNvPr id="8" name="Text 1"/>
          <p:cNvSpPr/>
          <p:nvPr/>
        </p:nvSpPr>
        <p:spPr>
          <a:xfrm>
            <a:off x="577900" y="2216795"/>
            <a:ext cx="5279975" cy="1333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0500"/>
              </a:lnSpc>
              <a:buNone/>
            </a:pPr>
            <a:r>
              <a:rPr lang="en-US" sz="10500" b="1" dirty="0">
                <a:solidFill>
                  <a:srgbClr val="2ECC71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👣</a:t>
            </a:r>
            <a:endParaRPr lang="en-US" sz="10500" dirty="0"/>
          </a:p>
        </p:txBody>
      </p:sp>
      <p:sp>
        <p:nvSpPr>
          <p:cNvPr id="9" name="Text 2"/>
          <p:cNvSpPr/>
          <p:nvPr/>
        </p:nvSpPr>
        <p:spPr>
          <a:xfrm>
            <a:off x="303237" y="3645545"/>
            <a:ext cx="5829300" cy="3238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1F3A5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Footprint Counter</a:t>
            </a:r>
            <a:endParaRPr lang="en-US" sz="2250" dirty="0"/>
          </a:p>
        </p:txBody>
      </p:sp>
      <p:sp>
        <p:nvSpPr>
          <p:cNvPr id="10" name="Text 3"/>
          <p:cNvSpPr/>
          <p:nvPr/>
        </p:nvSpPr>
        <p:spPr>
          <a:xfrm>
            <a:off x="1503313" y="4255145"/>
            <a:ext cx="8229600" cy="39052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800" dirty="0">
                <a:solidFill>
                  <a:srgbClr val="475569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Tracks daily physical activity</a:t>
            </a:r>
            <a:endParaRPr lang="en-US" sz="1800" dirty="0"/>
          </a:p>
        </p:txBody>
      </p:sp>
      <p:sp>
        <p:nvSpPr>
          <p:cNvPr id="11" name="Text 4"/>
          <p:cNvSpPr/>
          <p:nvPr/>
        </p:nvSpPr>
        <p:spPr>
          <a:xfrm>
            <a:off x="1503313" y="4788545"/>
            <a:ext cx="7132320" cy="39052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800" dirty="0">
                <a:solidFill>
                  <a:srgbClr val="475569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Updates steps in real time</a:t>
            </a:r>
            <a:endParaRPr lang="en-US" sz="1800" dirty="0"/>
          </a:p>
        </p:txBody>
      </p:sp>
      <p:sp>
        <p:nvSpPr>
          <p:cNvPr id="12" name="Text 5"/>
          <p:cNvSpPr/>
          <p:nvPr/>
        </p:nvSpPr>
        <p:spPr>
          <a:xfrm>
            <a:off x="1503313" y="5321945"/>
            <a:ext cx="8229600" cy="39052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800" dirty="0">
                <a:solidFill>
                  <a:srgbClr val="475569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Displays progress on dashboard</a:t>
            </a:r>
            <a:endParaRPr lang="en-US" sz="1800" dirty="0"/>
          </a:p>
        </p:txBody>
      </p:sp>
      <p:sp>
        <p:nvSpPr>
          <p:cNvPr id="13" name="Text 6"/>
          <p:cNvSpPr/>
          <p:nvPr/>
        </p:nvSpPr>
        <p:spPr>
          <a:xfrm>
            <a:off x="1503313" y="5855345"/>
            <a:ext cx="6858000" cy="39052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800" dirty="0">
                <a:solidFill>
                  <a:srgbClr val="475569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Encourages healthy habits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7620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952500"/>
            <a:ext cx="11049000" cy="5524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3976" y="2085975"/>
            <a:ext cx="5279975" cy="42862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70874" y="1709582"/>
            <a:ext cx="6552902" cy="4495651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809625" y="952500"/>
            <a:ext cx="17446516" cy="552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1F3A5F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Admin Floating Chatbot Feature</a:t>
            </a:r>
            <a:endParaRPr lang="en-US" sz="3900" dirty="0"/>
          </a:p>
        </p:txBody>
      </p:sp>
      <p:sp>
        <p:nvSpPr>
          <p:cNvPr id="8" name="Text 1"/>
          <p:cNvSpPr/>
          <p:nvPr/>
        </p:nvSpPr>
        <p:spPr>
          <a:xfrm>
            <a:off x="577900" y="2991296"/>
            <a:ext cx="7315200" cy="3333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A5F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Quick AI Interaction</a:t>
            </a:r>
            <a:endParaRPr lang="en-US" sz="2400" dirty="0"/>
          </a:p>
        </p:txBody>
      </p:sp>
      <p:sp>
        <p:nvSpPr>
          <p:cNvPr id="9" name="Text 2"/>
          <p:cNvSpPr/>
          <p:nvPr/>
        </p:nvSpPr>
        <p:spPr>
          <a:xfrm>
            <a:off x="768400" y="3477071"/>
            <a:ext cx="12618720" cy="39052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475569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Floating Icon</a:t>
            </a:r>
            <a:r>
              <a:rPr lang="en-US" sz="1800" dirty="0">
                <a:solidFill>
                  <a:srgbClr val="475569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 - Accessible from any admin page</a:t>
            </a:r>
            <a:endParaRPr lang="en-US" sz="1800" dirty="0"/>
          </a:p>
        </p:txBody>
      </p:sp>
      <p:sp>
        <p:nvSpPr>
          <p:cNvPr id="10" name="Text 3"/>
          <p:cNvSpPr/>
          <p:nvPr/>
        </p:nvSpPr>
        <p:spPr>
          <a:xfrm>
            <a:off x="768400" y="4010471"/>
            <a:ext cx="11521440" cy="39052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475569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Instant Access</a:t>
            </a:r>
            <a:r>
              <a:rPr lang="en-US" sz="1800" dirty="0">
                <a:solidFill>
                  <a:srgbClr val="475569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 - One-click chatbot testing</a:t>
            </a:r>
            <a:endParaRPr lang="en-US" sz="1800" dirty="0"/>
          </a:p>
        </p:txBody>
      </p:sp>
      <p:sp>
        <p:nvSpPr>
          <p:cNvPr id="11" name="Text 4"/>
          <p:cNvSpPr/>
          <p:nvPr/>
        </p:nvSpPr>
        <p:spPr>
          <a:xfrm>
            <a:off x="768400" y="4543871"/>
            <a:ext cx="12344400" cy="39052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475569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Efficiency</a:t>
            </a:r>
            <a:r>
              <a:rPr lang="en-US" sz="1800" dirty="0">
                <a:solidFill>
                  <a:srgbClr val="475569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 - Monitor AI behavior in real-time</a:t>
            </a:r>
            <a:endParaRPr lang="en-US" sz="1800" dirty="0"/>
          </a:p>
        </p:txBody>
      </p:sp>
      <p:sp>
        <p:nvSpPr>
          <p:cNvPr id="12" name="Text 5"/>
          <p:cNvSpPr/>
          <p:nvPr/>
        </p:nvSpPr>
        <p:spPr>
          <a:xfrm>
            <a:off x="768400" y="5077271"/>
            <a:ext cx="12893040" cy="39052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475569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Seamless UI</a:t>
            </a:r>
            <a:r>
              <a:rPr lang="en-US" sz="1800" dirty="0">
                <a:solidFill>
                  <a:srgbClr val="475569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 - Minimal impact on dashboard space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7620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952500"/>
            <a:ext cx="11049000" cy="5524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118" y="2757636"/>
            <a:ext cx="4893767" cy="971401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868" y="3100388"/>
            <a:ext cx="361950" cy="2857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3337" y="3907631"/>
            <a:ext cx="4910435" cy="628352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9087" y="4078932"/>
            <a:ext cx="285750" cy="2857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7245" y="4714726"/>
            <a:ext cx="4860280" cy="628352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2995" y="4886027"/>
            <a:ext cx="285750" cy="28575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27725" y="1943100"/>
            <a:ext cx="5279827" cy="42862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554780" y="1651642"/>
            <a:ext cx="6502449" cy="4460379"/>
          </a:xfrm>
          <a:prstGeom prst="rect">
            <a:avLst/>
          </a:prstGeom>
        </p:spPr>
      </p:pic>
      <p:sp>
        <p:nvSpPr>
          <p:cNvPr id="13" name="Text 0"/>
          <p:cNvSpPr/>
          <p:nvPr/>
        </p:nvSpPr>
        <p:spPr>
          <a:xfrm>
            <a:off x="809625" y="952500"/>
            <a:ext cx="13375662" cy="552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1F3A5F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Admin Monitoring System</a:t>
            </a:r>
            <a:endParaRPr lang="en-US" sz="3900" dirty="0"/>
          </a:p>
        </p:txBody>
      </p:sp>
      <p:sp>
        <p:nvSpPr>
          <p:cNvPr id="14" name="Text 1"/>
          <p:cNvSpPr/>
          <p:nvPr/>
        </p:nvSpPr>
        <p:spPr>
          <a:xfrm>
            <a:off x="1208318" y="2900511"/>
            <a:ext cx="3769817" cy="685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475569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User Management</a:t>
            </a:r>
            <a:r>
              <a:rPr lang="en-US" sz="1800" dirty="0">
                <a:solidFill>
                  <a:srgbClr val="475569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 - Track registrations and activity</a:t>
            </a:r>
            <a:endParaRPr lang="en-US" sz="1800" dirty="0"/>
          </a:p>
        </p:txBody>
      </p:sp>
      <p:sp>
        <p:nvSpPr>
          <p:cNvPr id="15" name="Text 2"/>
          <p:cNvSpPr/>
          <p:nvPr/>
        </p:nvSpPr>
        <p:spPr>
          <a:xfrm>
            <a:off x="1115337" y="3878907"/>
            <a:ext cx="3849142" cy="685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475569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Conversation Logs</a:t>
            </a:r>
            <a:r>
              <a:rPr lang="en-US" sz="1800" dirty="0">
                <a:solidFill>
                  <a:srgbClr val="475569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 - Monitor AI interactions</a:t>
            </a:r>
            <a:endParaRPr lang="en-US" sz="1800" dirty="0"/>
          </a:p>
        </p:txBody>
      </p:sp>
      <p:sp>
        <p:nvSpPr>
          <p:cNvPr id="16" name="Text 3"/>
          <p:cNvSpPr/>
          <p:nvPr/>
        </p:nvSpPr>
        <p:spPr>
          <a:xfrm>
            <a:off x="1199245" y="4686002"/>
            <a:ext cx="3776067" cy="685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475569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System Analytics</a:t>
            </a:r>
            <a:r>
              <a:rPr lang="en-US" sz="1800" dirty="0">
                <a:solidFill>
                  <a:srgbClr val="475569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 - Analyze usage statistics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7620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8814" y="1497360"/>
            <a:ext cx="714375" cy="571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8939" y="1497360"/>
            <a:ext cx="647700" cy="5715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2389" y="1497360"/>
            <a:ext cx="647700" cy="571500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571500" y="2449860"/>
            <a:ext cx="11049000" cy="7429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5250" b="1" dirty="0">
                <a:solidFill>
                  <a:srgbClr val="1F3A5F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Conclusion</a:t>
            </a:r>
            <a:endParaRPr lang="en-US" sz="5250" dirty="0"/>
          </a:p>
        </p:txBody>
      </p:sp>
      <p:sp>
        <p:nvSpPr>
          <p:cNvPr id="8" name="Text 1"/>
          <p:cNvSpPr/>
          <p:nvPr/>
        </p:nvSpPr>
        <p:spPr>
          <a:xfrm>
            <a:off x="1571625" y="3478560"/>
            <a:ext cx="9048601" cy="85338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3360"/>
              </a:lnSpc>
              <a:buNone/>
            </a:pPr>
            <a:r>
              <a:rPr lang="en-US" sz="2400" dirty="0">
                <a:solidFill>
                  <a:srgbClr val="475569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WellBot is an intelligent wellness platform designed to provide accessible healthcare assistance using AI technology.</a:t>
            </a:r>
            <a:endParaRPr lang="en-US" sz="2400" dirty="0"/>
          </a:p>
        </p:txBody>
      </p:sp>
      <p:sp>
        <p:nvSpPr>
          <p:cNvPr id="9" name="Text 2"/>
          <p:cNvSpPr/>
          <p:nvPr/>
        </p:nvSpPr>
        <p:spPr>
          <a:xfrm>
            <a:off x="-2871594" y="5455890"/>
            <a:ext cx="1792224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1F3A5F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Faster, Smarter, and Accessible Healthcare for Everyone.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1773</Words>
  <Application>WPS Presentation</Application>
  <PresentationFormat>On-screen Show (16:9)</PresentationFormat>
  <Paragraphs>102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9" baseType="lpstr">
      <vt:lpstr>Arial</vt:lpstr>
      <vt:lpstr>SimSun</vt:lpstr>
      <vt:lpstr>Wingdings</vt:lpstr>
      <vt:lpstr>Comfortaa</vt:lpstr>
      <vt:lpstr>Segoe Print</vt:lpstr>
      <vt:lpstr>Afacad Flux</vt:lpstr>
      <vt:lpstr>Wingdings</vt:lpstr>
      <vt:lpstr>Comfortaa</vt:lpstr>
      <vt:lpstr>Comfortaa</vt:lpstr>
      <vt:lpstr>Afacad Flux</vt:lpstr>
      <vt:lpstr>Afacad Flux</vt:lpstr>
      <vt:lpstr>Times New Roman</vt:lpstr>
      <vt:lpstr>Times New Roman</vt:lpstr>
      <vt:lpstr>Times New Roman</vt:lpstr>
      <vt:lpstr>Microsoft YaHei</vt:lpstr>
      <vt:lpstr>Arial Unicode MS</vt:lpstr>
      <vt:lpstr>Calibri</vt:lpstr>
      <vt:lpstr>MingLiU-ExtB</vt:lpstr>
      <vt:lpstr>Office Theme</vt:lpstr>
      <vt:lpstr>PowerPoint 演示文稿</vt:lpstr>
      <vt:lpstr>PowerPoint 演示文稿</vt:lpstr>
      <vt:lpstr>PowerPoint 演示文稿</vt:lpstr>
      <vt:lpstr>Problem Statement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Sakshi Z</cp:lastModifiedBy>
  <cp:revision>5</cp:revision>
  <dcterms:created xsi:type="dcterms:W3CDTF">2026-03-13T06:39:00Z</dcterms:created>
  <dcterms:modified xsi:type="dcterms:W3CDTF">2026-03-30T13:23:46Z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6B5D2F7A25F442D49CD728E3091A0A54_13</vt:lpwstr>
  </property>
  <property fmtid="{D5CDD505-2E9C-101B-9397-08002B2CF9AE}" pid="3" name="KSOProductBuildVer">
    <vt:lpwstr>1033-12.2.0.23196</vt:lpwstr>
  </property>
</Properties>
</file>