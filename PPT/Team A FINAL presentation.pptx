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12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73" r:id="rId5"/>
    <p:sldId id="266" r:id="rId6"/>
    <p:sldId id="258" r:id="rId7"/>
    <p:sldId id="259" r:id="rId8"/>
    <p:sldId id="260" r:id="rId9"/>
    <p:sldId id="261" r:id="rId10"/>
    <p:sldId id="262" r:id="rId11"/>
    <p:sldId id="264" r:id="rId12"/>
    <p:sldId id="263" r:id="rId13"/>
    <p:sldId id="269" r:id="rId14"/>
    <p:sldId id="268" r:id="rId15"/>
    <p:sldId id="270" r:id="rId16"/>
    <p:sldId id="271" r:id="rId17"/>
    <p:sldId id="272" r:id="rId18"/>
    <p:sldId id="267" r:id="rId19"/>
  </p:sldIdLst>
  <p:sldSz cx="14630400" cy="8229600"/>
  <p:notesSz cx="8229600" cy="14630400"/>
  <p:embeddedFontLst>
    <p:embeddedFont>
      <p:font typeface="Corbel" panose="020B0503020204020204" pitchFamily="34" charset="0"/>
      <p:regular r:id="rId23"/>
      <p:bold r:id="rId24"/>
      <p:italic r:id="rId25"/>
      <p:boldItalic r:id="rId26"/>
    </p:embeddedFont>
    <p:embeddedFont>
      <p:font typeface="Alexandria Medium" pitchFamily="34" charset="-122"/>
      <p:regular r:id="rId27"/>
    </p:embeddedFont>
    <p:embeddedFont>
      <p:font typeface="Alexandria Medium" pitchFamily="34" charset="0"/>
      <p:regular r:id="rId28"/>
    </p:embeddedFont>
    <p:embeddedFont>
      <p:font typeface="Alexandria Medium" pitchFamily="34" charset="-120"/>
      <p:regular r:id="rId29"/>
    </p:embeddedFont>
    <p:embeddedFont>
      <p:font typeface="Manrope" pitchFamily="34" charset="0"/>
      <p:bold r:id="rId30"/>
    </p:embeddedFont>
    <p:embeddedFont>
      <p:font typeface="Manrope" pitchFamily="34" charset="-122"/>
      <p:bold r:id="rId31"/>
    </p:embeddedFont>
    <p:embeddedFont>
      <p:font typeface="Manrope" pitchFamily="34" charset="-120"/>
      <p:bold r:id="rId32"/>
    </p:embeddedFont>
    <p:embeddedFont>
      <p:font typeface="Arial Black" panose="020B0A04020102020204" pitchFamily="34" charset="0"/>
      <p:bold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2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font" Target="fonts/font15.fntdata"/><Relationship Id="rId36" Type="http://schemas.openxmlformats.org/officeDocument/2006/relationships/font" Target="fonts/font14.fntdata"/><Relationship Id="rId35" Type="http://schemas.openxmlformats.org/officeDocument/2006/relationships/font" Target="fonts/font13.fntdata"/><Relationship Id="rId34" Type="http://schemas.openxmlformats.org/officeDocument/2006/relationships/font" Target="fonts/font12.fntdata"/><Relationship Id="rId33" Type="http://schemas.openxmlformats.org/officeDocument/2006/relationships/font" Target="fonts/font11.fntdata"/><Relationship Id="rId32" Type="http://schemas.openxmlformats.org/officeDocument/2006/relationships/font" Target="fonts/font10.fntdata"/><Relationship Id="rId31" Type="http://schemas.openxmlformats.org/officeDocument/2006/relationships/font" Target="fonts/font9.fntdata"/><Relationship Id="rId30" Type="http://schemas.openxmlformats.org/officeDocument/2006/relationships/font" Target="fonts/font8.fntdata"/><Relationship Id="rId3" Type="http://schemas.openxmlformats.org/officeDocument/2006/relationships/slide" Target="slides/slide1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77368" y="292609"/>
            <a:ext cx="14069568" cy="7653527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976" y="1058851"/>
            <a:ext cx="11960352" cy="3511296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864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1436" y="4643561"/>
            <a:ext cx="10521432" cy="1665798"/>
          </a:xfrm>
        </p:spPr>
        <p:txBody>
          <a:bodyPr>
            <a:normAutofit/>
          </a:bodyPr>
          <a:lstStyle>
            <a:lvl1pPr marL="0" indent="0" algn="ctr">
              <a:buNone/>
              <a:defRPr sz="2640">
                <a:solidFill>
                  <a:srgbClr val="FFFFFF"/>
                </a:solidFill>
              </a:defRPr>
            </a:lvl1pPr>
            <a:lvl2pPr marL="548640" indent="0" algn="ctr">
              <a:buNone/>
              <a:defRPr sz="2640"/>
            </a:lvl2pPr>
            <a:lvl3pPr marL="1097280" indent="0" algn="ctr">
              <a:buNone/>
              <a:defRPr sz="2640"/>
            </a:lvl3pPr>
            <a:lvl4pPr marL="1645920" indent="0" algn="ctr">
              <a:buNone/>
              <a:defRPr sz="2400"/>
            </a:lvl4pPr>
            <a:lvl5pPr marL="2194560" indent="0" algn="ctr">
              <a:buNone/>
              <a:defRPr sz="2400"/>
            </a:lvl5pPr>
            <a:lvl6pPr marL="2743200" indent="0" algn="ctr">
              <a:buNone/>
              <a:defRPr sz="2400"/>
            </a:lvl6pPr>
            <a:lvl7pPr marL="3291840" indent="0" algn="ctr">
              <a:buNone/>
              <a:defRPr sz="2400"/>
            </a:lvl7pPr>
            <a:lvl8pPr marL="3840480" indent="0" algn="ctr">
              <a:buNone/>
              <a:defRPr sz="2400"/>
            </a:lvl8pPr>
            <a:lvl9pPr marL="438912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374393" y="4480560"/>
            <a:ext cx="987552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7709" y="1408290"/>
            <a:ext cx="11960352" cy="3511296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864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1914" y="4985424"/>
            <a:ext cx="10522915" cy="1636567"/>
          </a:xfrm>
        </p:spPr>
        <p:txBody>
          <a:bodyPr anchor="t">
            <a:normAutofit/>
          </a:bodyPr>
          <a:lstStyle>
            <a:lvl1pPr marL="0" indent="0" algn="ctr">
              <a:buNone/>
              <a:defRPr sz="2640">
                <a:solidFill>
                  <a:schemeClr val="accent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2377441" y="4824490"/>
            <a:ext cx="987552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468879"/>
            <a:ext cx="5705856" cy="4828032"/>
          </a:xfrm>
        </p:spPr>
        <p:txBody>
          <a:bodyPr/>
          <a:lstStyle>
            <a:lvl1pPr>
              <a:defRPr sz="264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21134" y="2468880"/>
            <a:ext cx="5705856" cy="4828032"/>
          </a:xfrm>
        </p:spPr>
        <p:txBody>
          <a:bodyPr/>
          <a:lstStyle>
            <a:lvl1pPr>
              <a:defRPr sz="264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401813"/>
            <a:ext cx="5705856" cy="932688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265780"/>
            <a:ext cx="5705856" cy="4059936"/>
          </a:xfrm>
        </p:spPr>
        <p:txBody>
          <a:bodyPr/>
          <a:lstStyle>
            <a:lvl1pPr>
              <a:defRPr sz="264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23008" y="2398838"/>
            <a:ext cx="5705856" cy="932688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23008" y="3263186"/>
            <a:ext cx="5705856" cy="4059936"/>
          </a:xfrm>
        </p:spPr>
        <p:txBody>
          <a:bodyPr/>
          <a:lstStyle>
            <a:lvl1pPr>
              <a:defRPr sz="264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16736"/>
            <a:ext cx="4718304" cy="2084832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22591" y="1316736"/>
            <a:ext cx="6254496" cy="5596128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1600" y="3401568"/>
            <a:ext cx="4718304" cy="36210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None/>
              <a:defRPr sz="20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16736"/>
            <a:ext cx="4718304" cy="2084832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95897" y="1283816"/>
            <a:ext cx="7318858" cy="576072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336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1600" y="3401568"/>
            <a:ext cx="4718304" cy="345643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None/>
              <a:defRPr sz="20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914400"/>
            <a:ext cx="2788920" cy="649224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914400"/>
            <a:ext cx="8915400" cy="64922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77368" y="292609"/>
            <a:ext cx="14069568" cy="765352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731520"/>
            <a:ext cx="11850624" cy="16276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1" y="2468880"/>
            <a:ext cx="11847445" cy="4846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71595" y="7468594"/>
            <a:ext cx="279488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38978" y="7468594"/>
            <a:ext cx="566132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95437" y="7468594"/>
            <a:ext cx="20474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74320" indent="-219710" algn="l" defTabSz="1097280" rtl="0" eaLnBrk="1" latinLnBrk="0" hangingPunct="1">
        <a:lnSpc>
          <a:spcPct val="90000"/>
        </a:lnSpc>
        <a:spcBef>
          <a:spcPts val="1680"/>
        </a:spcBef>
        <a:buClr>
          <a:schemeClr val="accent1"/>
        </a:buClr>
        <a:buSzPct val="80000"/>
        <a:buFont typeface="Corbel" panose="020B0503020204020204" pitchFamily="34" charset="0"/>
        <a:buChar char="•"/>
        <a:defRPr sz="2640" kern="1200">
          <a:solidFill>
            <a:schemeClr val="accent1"/>
          </a:solidFill>
          <a:latin typeface="+mn-lt"/>
          <a:ea typeface="+mn-ea"/>
          <a:cs typeface="+mn-cs"/>
        </a:defRPr>
      </a:lvl1pPr>
      <a:lvl2pPr marL="548640" indent="-21971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877570" indent="-21971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216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207135" indent="-21971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92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536065" indent="-21971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92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92024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920" kern="1200">
          <a:solidFill>
            <a:schemeClr val="accent1"/>
          </a:solidFill>
          <a:latin typeface="+mn-lt"/>
          <a:ea typeface="+mn-ea"/>
          <a:cs typeface="+mn-cs"/>
        </a:defRPr>
      </a:lvl6pPr>
      <a:lvl7pPr marL="2280285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92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639695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92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99974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92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svg"/><Relationship Id="rId8" Type="http://schemas.openxmlformats.org/officeDocument/2006/relationships/image" Target="../media/image11.png"/><Relationship Id="rId7" Type="http://schemas.openxmlformats.org/officeDocument/2006/relationships/image" Target="../media/image10.svg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4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1.svg"/><Relationship Id="rId7" Type="http://schemas.openxmlformats.org/officeDocument/2006/relationships/image" Target="../media/image20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6.xml"/><Relationship Id="rId12" Type="http://schemas.openxmlformats.org/officeDocument/2006/relationships/image" Target="../media/image25.svg"/><Relationship Id="rId11" Type="http://schemas.openxmlformats.org/officeDocument/2006/relationships/image" Target="../media/image24.png"/><Relationship Id="rId10" Type="http://schemas.openxmlformats.org/officeDocument/2006/relationships/image" Target="../media/image23.sv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image" Target="../media/image38.svg"/><Relationship Id="rId7" Type="http://schemas.openxmlformats.org/officeDocument/2006/relationships/image" Target="../media/image37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3" Type="http://schemas.openxmlformats.org/officeDocument/2006/relationships/notesSlide" Target="../notesSlides/notesSlide11.xml"/><Relationship Id="rId12" Type="http://schemas.openxmlformats.org/officeDocument/2006/relationships/slideLayout" Target="../slideLayouts/slideLayout15.xml"/><Relationship Id="rId11" Type="http://schemas.openxmlformats.org/officeDocument/2006/relationships/image" Target="../media/image41.png"/><Relationship Id="rId10" Type="http://schemas.openxmlformats.org/officeDocument/2006/relationships/image" Target="../media/image40.svg"/><Relationship Id="rId1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4.xml"/><Relationship Id="rId7" Type="http://schemas.openxmlformats.org/officeDocument/2006/relationships/image" Target="../media/image47.svg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Relationship Id="rId3" Type="http://schemas.openxmlformats.org/officeDocument/2006/relationships/image" Target="../media/image43.svg"/><Relationship Id="rId2" Type="http://schemas.openxmlformats.org/officeDocument/2006/relationships/image" Target="../media/image5.png"/><Relationship Id="rId1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3004899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00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WellBot</a:t>
            </a:r>
            <a:endParaRPr lang="en-US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3804404"/>
            <a:ext cx="5558909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AI-Powered Wellness Chatbot Platform</a:t>
            </a:r>
            <a:endParaRPr lang="en-US" sz="2800" b="1" dirty="0"/>
          </a:p>
        </p:txBody>
      </p:sp>
      <p:sp>
        <p:nvSpPr>
          <p:cNvPr id="5" name="Text 2"/>
          <p:cNvSpPr/>
          <p:nvPr/>
        </p:nvSpPr>
        <p:spPr>
          <a:xfrm>
            <a:off x="793790" y="4498896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Intelligent healthcare assistance with hybrid AI and real-time analytics for personalized wellness guidance</a:t>
            </a:r>
            <a:endParaRPr lang="en-US" sz="20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007" y="307208"/>
            <a:ext cx="5558910" cy="76258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7553" y="2160271"/>
            <a:ext cx="5237066" cy="29752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5322" y="1530350"/>
            <a:ext cx="7857948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Team Members</a:t>
            </a:r>
            <a:endParaRPr lang="en-US" sz="4400" b="1" dirty="0"/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 smtClean="0">
                <a:latin typeface="Arial" panose="020B0604020202020204" pitchFamily="34" charset="0"/>
              </a:rPr>
              <a:t>Sameer</a:t>
            </a:r>
            <a:r>
              <a:rPr lang="en-US" altLang="en-US" sz="1600" b="1" dirty="0">
                <a:latin typeface="Arial" panose="020B0604020202020204" pitchFamily="34" charset="0"/>
              </a:rPr>
              <a:t>:</a:t>
            </a:r>
            <a:r>
              <a:rPr lang="en-US" altLang="en-US" sz="1600" dirty="0">
                <a:latin typeface="Arial" panose="020B0604020202020204" pitchFamily="34" charset="0"/>
              </a:rPr>
              <a:t> Gained understanding of end-to-end client–server architecture integrating Flask APIs, </a:t>
            </a:r>
            <a:r>
              <a:rPr lang="en-US" altLang="en-US" sz="1600" dirty="0" err="1">
                <a:latin typeface="Arial" panose="020B0604020202020204" pitchFamily="34" charset="0"/>
              </a:rPr>
              <a:t>WebSockets</a:t>
            </a:r>
            <a:r>
              <a:rPr lang="en-US" altLang="en-US" sz="1600" dirty="0">
                <a:latin typeface="Arial" panose="020B0604020202020204" pitchFamily="34" charset="0"/>
              </a:rPr>
              <a:t>, and API Keys</a:t>
            </a:r>
            <a:r>
              <a:rPr lang="en-US" altLang="en-US" sz="1600" b="1" dirty="0" smtClean="0">
                <a:latin typeface="Arial" panose="020B0604020202020204" pitchFamily="34" charset="0"/>
              </a:rPr>
              <a:t>   </a:t>
            </a:r>
            <a:endParaRPr lang="en-US" altLang="en-US" sz="1600" b="1" dirty="0" smtClean="0">
              <a:latin typeface="Arial" panose="020B0604020202020204" pitchFamily="34" charset="0"/>
            </a:endParaRP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 err="1" smtClean="0">
                <a:latin typeface="Arial" panose="020B0604020202020204" pitchFamily="34" charset="0"/>
              </a:rPr>
              <a:t>Tejaswini</a:t>
            </a:r>
            <a:r>
              <a:rPr lang="en-US" altLang="en-US" sz="1600" b="1" dirty="0">
                <a:latin typeface="Arial" panose="020B0604020202020204" pitchFamily="34" charset="0"/>
              </a:rPr>
              <a:t>:</a:t>
            </a:r>
            <a:r>
              <a:rPr lang="en-US" altLang="en-US" sz="1600" dirty="0">
                <a:latin typeface="Arial" panose="020B0604020202020204" pitchFamily="34" charset="0"/>
              </a:rPr>
              <a:t> Developed hands-on expertise in building NLP pipelines from tokenization to intent classification.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 err="1">
                <a:latin typeface="Arial" panose="020B0604020202020204" pitchFamily="34" charset="0"/>
              </a:rPr>
              <a:t>Apeksha</a:t>
            </a:r>
            <a:r>
              <a:rPr lang="en-US" altLang="en-US" sz="1600" b="1" dirty="0">
                <a:latin typeface="Arial" panose="020B0604020202020204" pitchFamily="34" charset="0"/>
              </a:rPr>
              <a:t>:</a:t>
            </a:r>
            <a:r>
              <a:rPr lang="en-US" altLang="en-US" sz="1600" dirty="0">
                <a:latin typeface="Arial" panose="020B0604020202020204" pitchFamily="34" charset="0"/>
              </a:rPr>
              <a:t> Learned to implement secure authentication using </a:t>
            </a:r>
            <a:r>
              <a:rPr lang="en-US" altLang="en-US" sz="1600" dirty="0" err="1">
                <a:latin typeface="Arial" panose="020B0604020202020204" pitchFamily="34" charset="0"/>
              </a:rPr>
              <a:t>bcrypt</a:t>
            </a:r>
            <a:r>
              <a:rPr lang="en-US" altLang="en-US" sz="1600" dirty="0">
                <a:latin typeface="Arial" panose="020B0604020202020204" pitchFamily="34" charset="0"/>
              </a:rPr>
              <a:t> and JWT, emphasizing security-first design.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 smtClean="0">
                <a:latin typeface="Arial" panose="020B0604020202020204" pitchFamily="34" charset="0"/>
              </a:rPr>
              <a:t>Avinash </a:t>
            </a:r>
            <a:r>
              <a:rPr lang="en-US" altLang="en-US" sz="1600" b="1" dirty="0" err="1" smtClean="0">
                <a:latin typeface="Arial" panose="020B0604020202020204" pitchFamily="34" charset="0"/>
              </a:rPr>
              <a:t>Patil</a:t>
            </a:r>
            <a:r>
              <a:rPr lang="en-US" altLang="en-US" sz="1600" b="1" dirty="0">
                <a:latin typeface="Arial" panose="020B0604020202020204" pitchFamily="34" charset="0"/>
              </a:rPr>
              <a:t>:</a:t>
            </a:r>
            <a:r>
              <a:rPr lang="en-US" altLang="en-US" sz="1600" dirty="0">
                <a:latin typeface="Arial" panose="020B0604020202020204" pitchFamily="34" charset="0"/>
              </a:rPr>
              <a:t> Explored responsible deployment of LLMs in healthcare using </a:t>
            </a:r>
            <a:r>
              <a:rPr lang="en-US" altLang="en-US" sz="1600" dirty="0" err="1">
                <a:latin typeface="Arial" panose="020B0604020202020204" pitchFamily="34" charset="0"/>
              </a:rPr>
              <a:t>OpenAI</a:t>
            </a:r>
            <a:r>
              <a:rPr lang="en-US" altLang="en-US" sz="1600" dirty="0">
                <a:latin typeface="Arial" panose="020B0604020202020204" pitchFamily="34" charset="0"/>
              </a:rPr>
              <a:t> GPT and prompt engineering.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 err="1">
                <a:latin typeface="Arial" panose="020B0604020202020204" pitchFamily="34" charset="0"/>
              </a:rPr>
              <a:t>Sakshi</a:t>
            </a:r>
            <a:r>
              <a:rPr lang="en-US" altLang="en-US" sz="1600" b="1" dirty="0">
                <a:latin typeface="Arial" panose="020B0604020202020204" pitchFamily="34" charset="0"/>
              </a:rPr>
              <a:t>:</a:t>
            </a:r>
            <a:r>
              <a:rPr lang="en-US" altLang="en-US" sz="1600" dirty="0">
                <a:latin typeface="Arial" panose="020B0604020202020204" pitchFamily="34" charset="0"/>
              </a:rPr>
              <a:t> Built strong foundations in SQL database design and multi-user session management.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 err="1">
                <a:latin typeface="Arial" panose="020B0604020202020204" pitchFamily="34" charset="0"/>
              </a:rPr>
              <a:t>Harika</a:t>
            </a:r>
            <a:r>
              <a:rPr lang="en-US" altLang="en-US" sz="1600" b="1" dirty="0">
                <a:latin typeface="Arial" panose="020B0604020202020204" pitchFamily="34" charset="0"/>
              </a:rPr>
              <a:t>:</a:t>
            </a:r>
            <a:r>
              <a:rPr lang="en-US" altLang="en-US" sz="1600" dirty="0">
                <a:latin typeface="Arial" panose="020B0604020202020204" pitchFamily="34" charset="0"/>
              </a:rPr>
              <a:t> Understood the importance of UI/UX in AI systems through frontend development and theming.</a:t>
            </a:r>
            <a:endParaRPr lang="en-US" altLang="en-US" sz="1600" dirty="0">
              <a:latin typeface="Arial" panose="020B0604020202020204" pitchFamily="34" charset="0"/>
            </a:endParaRPr>
          </a:p>
          <a:p>
            <a:endParaRPr lang="en-US" altLang="en-US" sz="1600" dirty="0">
              <a:latin typeface="Arial" panose="020B0604020202020204" pitchFamily="34" charset="0"/>
            </a:endParaRPr>
          </a:p>
          <a:p>
            <a:endParaRPr lang="en-US" sz="4400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82015" y="6819900"/>
            <a:ext cx="7985538" cy="444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latin typeface="Arial Black" panose="020B0A04020102020204" pitchFamily="34" charset="0"/>
                <a:ea typeface="Alexandria Medium" pitchFamily="34" charset="-122"/>
                <a:cs typeface="Alexandria Medium" pitchFamily="34" charset="-120"/>
              </a:rPr>
              <a:t>Platform Overview</a:t>
            </a:r>
            <a:endParaRPr lang="en-US" sz="4450" b="1" dirty="0">
              <a:latin typeface="Arial Black" panose="020B0A040201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9638943" y="2904173"/>
            <a:ext cx="4205168" cy="21774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WellBot combines conversational AI, health analytics, and wellness tracking into a unified platform. Using hybrid AI models, it delivers accurate responses while tracking health metrics like BMI, calories, sleep, and heart rate.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638943" y="5285661"/>
            <a:ext cx="4205168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The platform is designed to be user-friendly, secure, and scalable for healthcare organizations.</a:t>
            </a:r>
            <a:endParaRPr lang="en-US" sz="1750" dirty="0"/>
          </a:p>
        </p:txBody>
      </p:sp>
      <p:sp>
        <p:nvSpPr>
          <p:cNvPr id="6" name="AutoShape 2"/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28651" y="2354580"/>
            <a:ext cx="7920990" cy="4482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457450"/>
            <a:ext cx="7668220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708" y="848558"/>
            <a:ext cx="6559391" cy="6363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2708" y="1850469"/>
            <a:ext cx="13204984" cy="3090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Current healthcare systems create barriers that prevent people from getting the quick, accessible guidance they need.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2708" y="2365177"/>
            <a:ext cx="6511052" cy="2571036"/>
          </a:xfrm>
          <a:prstGeom prst="roundRect">
            <a:avLst>
              <a:gd name="adj" fmla="val 11881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925" y="2576393"/>
            <a:ext cx="610791" cy="610791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922" y="2744391"/>
            <a:ext cx="274796" cy="2747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3925" y="3369945"/>
            <a:ext cx="2909768" cy="3181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Prescription Confusion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923925" y="3797737"/>
            <a:ext cx="6088618" cy="9272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Patients struggle to understand complex medication instructions and dosage requirements from handwritten or printed prescriptions.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406521" y="2365177"/>
            <a:ext cx="6511171" cy="2571036"/>
          </a:xfrm>
          <a:prstGeom prst="roundRect">
            <a:avLst>
              <a:gd name="adj" fmla="val 11881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7738" y="2576393"/>
            <a:ext cx="610791" cy="610791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85735" y="2744391"/>
            <a:ext cx="274796" cy="2747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17738" y="3369945"/>
            <a:ext cx="2545437" cy="3181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Limited Access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7617738" y="3797737"/>
            <a:ext cx="6088737" cy="9272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Quick health advice is difficult to obtain outside regular office hours, leaving patients without immediate support during urgent moments.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712708" y="5118973"/>
            <a:ext cx="6511052" cy="2261949"/>
          </a:xfrm>
          <a:prstGeom prst="roundRect">
            <a:avLst>
              <a:gd name="adj" fmla="val 13504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5330190"/>
            <a:ext cx="610791" cy="610791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1922" y="5498187"/>
            <a:ext cx="274796" cy="27479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23925" y="6123742"/>
            <a:ext cx="3078718" cy="3181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No Centralized Platform</a:t>
            </a:r>
            <a:endParaRPr lang="en-US" sz="2000" dirty="0"/>
          </a:p>
        </p:txBody>
      </p:sp>
      <p:sp>
        <p:nvSpPr>
          <p:cNvPr id="18" name="Text 10"/>
          <p:cNvSpPr/>
          <p:nvPr/>
        </p:nvSpPr>
        <p:spPr>
          <a:xfrm>
            <a:off x="923925" y="6551533"/>
            <a:ext cx="6088618" cy="6181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Health information remains fragmented across multiple sources without an integrated AI-powered wellness hub.</a:t>
            </a:r>
            <a:endParaRPr lang="en-US" sz="1600" dirty="0"/>
          </a:p>
        </p:txBody>
      </p:sp>
      <p:sp>
        <p:nvSpPr>
          <p:cNvPr id="19" name="Shape 11"/>
          <p:cNvSpPr/>
          <p:nvPr/>
        </p:nvSpPr>
        <p:spPr>
          <a:xfrm>
            <a:off x="7406521" y="5118973"/>
            <a:ext cx="6511171" cy="2261949"/>
          </a:xfrm>
          <a:prstGeom prst="roundRect">
            <a:avLst>
              <a:gd name="adj" fmla="val 13504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7738" y="5330190"/>
            <a:ext cx="610791" cy="610791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85735" y="5498187"/>
            <a:ext cx="274796" cy="274796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7617738" y="6123742"/>
            <a:ext cx="2545437" cy="3181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Tracking Gaps</a:t>
            </a:r>
            <a:endParaRPr lang="en-US" sz="2000" dirty="0"/>
          </a:p>
        </p:txBody>
      </p:sp>
      <p:sp>
        <p:nvSpPr>
          <p:cNvPr id="23" name="Text 13"/>
          <p:cNvSpPr/>
          <p:nvPr/>
        </p:nvSpPr>
        <p:spPr>
          <a:xfrm>
            <a:off x="7617738" y="6551533"/>
            <a:ext cx="6088737" cy="6181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Lack of personalized, continuous health tracking prevents users from monitoring wellness trends and making informed decisions.</a:t>
            </a:r>
            <a:endParaRPr lang="en-US" sz="1600" dirty="0"/>
          </a:p>
        </p:txBody>
      </p:sp>
      <p:sp>
        <p:nvSpPr>
          <p:cNvPr id="25" name="TextBox 24"/>
          <p:cNvSpPr txBox="1"/>
          <p:nvPr/>
        </p:nvSpPr>
        <p:spPr>
          <a:xfrm>
            <a:off x="745331" y="852918"/>
            <a:ext cx="7315200" cy="551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0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Problem Statement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7740" y="267195"/>
            <a:ext cx="5569528" cy="76952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29052"/>
            <a:ext cx="575941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Introducing WellBot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277993"/>
            <a:ext cx="7556421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 complete digital healthcare assistant experience combining intelligent chatbot technology, prescription analysis, and real-time wellness monitoring.</a:t>
            </a:r>
            <a:endParaRPr lang="en-US" sz="1750" dirty="0"/>
          </a:p>
        </p:txBody>
      </p:sp>
      <p:sp>
        <p:nvSpPr>
          <p:cNvPr id="6" name="TextBox 5"/>
          <p:cNvSpPr txBox="1"/>
          <p:nvPr/>
        </p:nvSpPr>
        <p:spPr>
          <a:xfrm>
            <a:off x="627535" y="4114800"/>
            <a:ext cx="7127052" cy="2458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 wellness chatbot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Prescription image analysis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Symptom checker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Nutrition guidance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Admin monitoring system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859036"/>
            <a:ext cx="5316260" cy="664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Core Features</a:t>
            </a:r>
            <a:endParaRPr lang="en-US" sz="41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4260" y="1922145"/>
            <a:ext cx="531614" cy="5316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25072" y="1922145"/>
            <a:ext cx="2718673" cy="332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AI-Powered Chatbot</a:t>
            </a:r>
            <a:endParaRPr lang="en-US" sz="2050" b="1" dirty="0"/>
          </a:p>
        </p:txBody>
      </p:sp>
      <p:sp>
        <p:nvSpPr>
          <p:cNvPr id="5" name="Text 2"/>
          <p:cNvSpPr/>
          <p:nvPr/>
        </p:nvSpPr>
        <p:spPr>
          <a:xfrm>
            <a:off x="1525072" y="2373987"/>
            <a:ext cx="5665470" cy="13182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Instant health guidance through natural language conversations with intelligent AI that understands medical context and provides accurate, helpful responses.</a:t>
            </a:r>
            <a:endParaRPr lang="en-US" sz="1650" b="1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9739" y="1922145"/>
            <a:ext cx="531614" cy="5316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0551" y="1922145"/>
            <a:ext cx="3693914" cy="332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Prescription Image Analysis</a:t>
            </a:r>
            <a:endParaRPr lang="en-US" sz="2050" b="1" dirty="0"/>
          </a:p>
        </p:txBody>
      </p:sp>
      <p:sp>
        <p:nvSpPr>
          <p:cNvPr id="8" name="Text 4"/>
          <p:cNvSpPr/>
          <p:nvPr/>
        </p:nvSpPr>
        <p:spPr>
          <a:xfrm>
            <a:off x="8220551" y="2373987"/>
            <a:ext cx="5665589" cy="9886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Upload prescription images and let AI automatically extract medication names, dosages, and instructions for easy understanding.</a:t>
            </a:r>
            <a:endParaRPr lang="en-US" sz="1650" b="1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4260" y="4090868"/>
            <a:ext cx="531614" cy="5316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25072" y="4090868"/>
            <a:ext cx="2658070" cy="332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Symptom Checker</a:t>
            </a:r>
            <a:endParaRPr lang="en-US" sz="2050" b="1" dirty="0"/>
          </a:p>
        </p:txBody>
      </p:sp>
      <p:sp>
        <p:nvSpPr>
          <p:cNvPr id="11" name="Text 6"/>
          <p:cNvSpPr/>
          <p:nvPr/>
        </p:nvSpPr>
        <p:spPr>
          <a:xfrm>
            <a:off x="1525072" y="4542711"/>
            <a:ext cx="5665470" cy="9886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Describe symptoms and receive preliminary diagnosis support, helping users understand potential conditions and decide when to seek medical care.</a:t>
            </a:r>
            <a:endParaRPr lang="en-US" sz="1650" b="1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9739" y="4090868"/>
            <a:ext cx="531614" cy="53161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20551" y="4090868"/>
            <a:ext cx="2658070" cy="332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Nutrition Guidance</a:t>
            </a:r>
            <a:endParaRPr lang="en-US" sz="2050" b="1" dirty="0"/>
          </a:p>
        </p:txBody>
      </p:sp>
      <p:sp>
        <p:nvSpPr>
          <p:cNvPr id="14" name="Text 8"/>
          <p:cNvSpPr/>
          <p:nvPr/>
        </p:nvSpPr>
        <p:spPr>
          <a:xfrm>
            <a:off x="8220551" y="4542711"/>
            <a:ext cx="5665589" cy="9886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Get personalized dietary recommendations based on health goals, conditions, and preferences to support overall wellness.</a:t>
            </a:r>
            <a:endParaRPr lang="en-US" sz="1650" b="1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4260" y="5930027"/>
            <a:ext cx="531614" cy="53161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25072" y="5930027"/>
            <a:ext cx="3475196" cy="332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Secure Data Management</a:t>
            </a:r>
            <a:endParaRPr lang="en-US" sz="2050" b="1" dirty="0"/>
          </a:p>
        </p:txBody>
      </p:sp>
      <p:sp>
        <p:nvSpPr>
          <p:cNvPr id="17" name="Text 10"/>
          <p:cNvSpPr/>
          <p:nvPr/>
        </p:nvSpPr>
        <p:spPr>
          <a:xfrm>
            <a:off x="1525072" y="6381869"/>
            <a:ext cx="5665470" cy="9886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End-to-end encryption and secure database storage protect sensitive health information with enterprise-grade security protocols.</a:t>
            </a:r>
            <a:endParaRPr lang="en-US" sz="1650" b="1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39739" y="5930027"/>
            <a:ext cx="531614" cy="53161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220551" y="5930027"/>
            <a:ext cx="3256836" cy="332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Multi-Language Support</a:t>
            </a:r>
            <a:endParaRPr lang="en-US" sz="2050" b="1" dirty="0"/>
          </a:p>
        </p:txBody>
      </p:sp>
      <p:sp>
        <p:nvSpPr>
          <p:cNvPr id="20" name="Text 12"/>
          <p:cNvSpPr/>
          <p:nvPr/>
        </p:nvSpPr>
        <p:spPr>
          <a:xfrm>
            <a:off x="8220551" y="6381869"/>
            <a:ext cx="5665589" cy="6591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Access wellness guidance in multiple languages, breaking down communication barriers for global users.</a:t>
            </a:r>
            <a:endParaRPr lang="en-US" sz="165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994" y="506968"/>
            <a:ext cx="4316492" cy="5253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60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System Architecture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5023" y="1356598"/>
            <a:ext cx="12908478" cy="6736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WellBot uses a hybrid AI architecture that routes requests to the most appropriate AI model based on query complexity and</a:t>
            </a:r>
            <a:endParaRPr lang="en-US" sz="1600" b="1" dirty="0"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requirements</a:t>
            </a:r>
            <a:r>
              <a:rPr lang="en-US" sz="13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300" b="1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19" y="1936432"/>
            <a:ext cx="504349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pic>
      <p:sp>
        <p:nvSpPr>
          <p:cNvPr id="5" name="Text 2"/>
          <p:cNvSpPr/>
          <p:nvPr/>
        </p:nvSpPr>
        <p:spPr>
          <a:xfrm>
            <a:off x="1219437" y="2073520"/>
            <a:ext cx="2101691" cy="2626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User Interface</a:t>
            </a:r>
            <a:endParaRPr lang="en-US" sz="1650" b="1" dirty="0"/>
          </a:p>
        </p:txBody>
      </p:sp>
      <p:sp>
        <p:nvSpPr>
          <p:cNvPr id="6" name="Text 3"/>
          <p:cNvSpPr/>
          <p:nvPr/>
        </p:nvSpPr>
        <p:spPr>
          <a:xfrm>
            <a:off x="1204669" y="2456132"/>
            <a:ext cx="10972443" cy="2340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Web and mobile frontend providing chat interface, dashboard, and image upload capabilities.</a:t>
            </a:r>
            <a:endParaRPr lang="en-US" sz="1300" b="1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263" y="2989124"/>
            <a:ext cx="504349" cy="1143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41317" y="3101578"/>
            <a:ext cx="2186226" cy="2626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Frontend Dashboard</a:t>
            </a:r>
            <a:endParaRPr lang="en-US" sz="1650" b="1" dirty="0"/>
          </a:p>
        </p:txBody>
      </p:sp>
      <p:sp>
        <p:nvSpPr>
          <p:cNvPr id="9" name="Text 5"/>
          <p:cNvSpPr/>
          <p:nvPr/>
        </p:nvSpPr>
        <p:spPr>
          <a:xfrm>
            <a:off x="1471612" y="3482459"/>
            <a:ext cx="10720268" cy="2340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Interactive user experience with real-time updates, wellness tracking, and personalized content display.</a:t>
            </a:r>
            <a:endParaRPr lang="en-US" sz="1300" b="1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1707" y="4114800"/>
            <a:ext cx="504349" cy="1143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86056" y="4258116"/>
            <a:ext cx="2101691" cy="2626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Flask Backend API</a:t>
            </a:r>
            <a:endParaRPr lang="en-US" sz="1650" b="1" dirty="0"/>
          </a:p>
        </p:txBody>
      </p:sp>
      <p:sp>
        <p:nvSpPr>
          <p:cNvPr id="12" name="Text 7"/>
          <p:cNvSpPr/>
          <p:nvPr/>
        </p:nvSpPr>
        <p:spPr>
          <a:xfrm>
            <a:off x="1786056" y="4648650"/>
            <a:ext cx="10468094" cy="2340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RESTful API handles authentication, request routing, data validation, and response formatting.</a:t>
            </a:r>
            <a:endParaRPr lang="en-US" sz="1300" b="1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579" y="5191933"/>
            <a:ext cx="504349" cy="1143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163616" y="5404353"/>
            <a:ext cx="2101691" cy="2626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AI Model Router</a:t>
            </a:r>
            <a:endParaRPr lang="en-US" sz="1650" b="1" dirty="0"/>
          </a:p>
        </p:txBody>
      </p:sp>
      <p:sp>
        <p:nvSpPr>
          <p:cNvPr id="15" name="Text 9"/>
          <p:cNvSpPr/>
          <p:nvPr/>
        </p:nvSpPr>
        <p:spPr>
          <a:xfrm>
            <a:off x="2162431" y="5823585"/>
            <a:ext cx="10215920" cy="2340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Intelligent routing system directs queries to Groq, Gemini, Ollama, or OpenAI based on requirements.</a:t>
            </a:r>
            <a:endParaRPr lang="en-US" sz="1300" b="1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8114" y="6451283"/>
            <a:ext cx="504349" cy="11430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534430" y="6490824"/>
            <a:ext cx="2057400" cy="2340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Database Storage</a:t>
            </a:r>
            <a:endParaRPr lang="en-US" sz="1650" b="1" dirty="0"/>
          </a:p>
        </p:txBody>
      </p:sp>
      <p:sp>
        <p:nvSpPr>
          <p:cNvPr id="18" name="Text 11"/>
          <p:cNvSpPr/>
          <p:nvPr/>
        </p:nvSpPr>
        <p:spPr>
          <a:xfrm>
            <a:off x="2534430" y="6914079"/>
            <a:ext cx="9458206" cy="4869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MongoDB stores user profiles, chat history, health data, and prescription analysis results securely.</a:t>
            </a:r>
            <a:endParaRPr lang="en-US" sz="1300" b="1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1637" y="2062851"/>
            <a:ext cx="4440628" cy="33671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117" y="587097"/>
            <a:ext cx="7134344" cy="6747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Multi-Language System </a:t>
            </a:r>
            <a:r>
              <a:rPr lang="en-US" sz="4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🌍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7117" y="1714501"/>
            <a:ext cx="2668548" cy="5695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Global Accessibility</a:t>
            </a:r>
            <a:endParaRPr lang="en-US" sz="2100" b="1" dirty="0"/>
          </a:p>
        </p:txBody>
      </p:sp>
      <p:sp>
        <p:nvSpPr>
          <p:cNvPr id="4" name="Text 2"/>
          <p:cNvSpPr/>
          <p:nvPr/>
        </p:nvSpPr>
        <p:spPr>
          <a:xfrm>
            <a:off x="747117" y="2284049"/>
            <a:ext cx="5276493" cy="17269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WellBot supports multiple languages to serve diverse user populations. Users can change the interface language with a single click, making healthcare assistance accessible to everyone regardless of their native language.</a:t>
            </a:r>
            <a:endParaRPr lang="en-US" sz="1650" dirty="0">
              <a:latin typeface="Manrope" pitchFamily="34" charset="0"/>
              <a:ea typeface="Manrope" pitchFamily="34" charset="-122"/>
              <a:cs typeface="Manrope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47117" y="4211836"/>
            <a:ext cx="4263866" cy="3334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Currently Supported Languages</a:t>
            </a:r>
            <a:endParaRPr lang="en-US" sz="2100" b="1" dirty="0"/>
          </a:p>
        </p:txBody>
      </p:sp>
      <p:sp>
        <p:nvSpPr>
          <p:cNvPr id="6" name="Text 4"/>
          <p:cNvSpPr/>
          <p:nvPr/>
        </p:nvSpPr>
        <p:spPr>
          <a:xfrm>
            <a:off x="747117" y="4746188"/>
            <a:ext cx="8356163" cy="15366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English</a:t>
            </a:r>
            <a:r>
              <a:rPr lang="en-US" sz="16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- Primary interface language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Hindi</a:t>
            </a:r>
            <a:r>
              <a:rPr lang="en-US" sz="16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- Serving Indian population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Kannada</a:t>
            </a:r>
            <a:r>
              <a:rPr lang="en-US" sz="16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- Regional language support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Spanish</a:t>
            </a:r>
            <a:r>
              <a:rPr lang="en-US" sz="16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- Global Spanish speakers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7119" y="6463545"/>
            <a:ext cx="5379362" cy="10204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Additional languages can be added based on</a:t>
            </a:r>
            <a:endParaRPr lang="en-US" sz="1650" dirty="0"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market demand and user feedback</a:t>
            </a:r>
            <a:r>
              <a:rPr lang="en-US" sz="1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65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6490" y="1606677"/>
            <a:ext cx="7989570" cy="58773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2115" y="883206"/>
            <a:ext cx="8309967" cy="661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4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Real-Time Footprint Counter </a:t>
            </a:r>
            <a:r>
              <a:rPr lang="en-US" sz="41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👣</a:t>
            </a:r>
            <a:endParaRPr lang="en-US" sz="4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115" y="2251710"/>
            <a:ext cx="8379381" cy="46767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29418" y="2026801"/>
            <a:ext cx="3712726" cy="3268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Activity Tracking Integration</a:t>
            </a:r>
            <a:endParaRPr lang="en-US" sz="2400" b="1" dirty="0"/>
          </a:p>
        </p:txBody>
      </p:sp>
      <p:sp>
        <p:nvSpPr>
          <p:cNvPr id="5" name="Text 2"/>
          <p:cNvSpPr/>
          <p:nvPr/>
        </p:nvSpPr>
        <p:spPr>
          <a:xfrm>
            <a:off x="9629418" y="2546509"/>
            <a:ext cx="4276368" cy="9647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The wellness dashboard includes a real-time footprint counter that displays the number of steps taken throughout the day</a:t>
            </a:r>
            <a:r>
              <a:rPr lang="en-US" sz="16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629418" y="3704153"/>
            <a:ext cx="2614970" cy="3268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How It Works</a:t>
            </a:r>
            <a:endParaRPr lang="en-US" sz="2050" b="1" dirty="0"/>
          </a:p>
        </p:txBody>
      </p:sp>
      <p:sp>
        <p:nvSpPr>
          <p:cNvPr id="7" name="Text 4"/>
          <p:cNvSpPr/>
          <p:nvPr/>
        </p:nvSpPr>
        <p:spPr>
          <a:xfrm>
            <a:off x="9629418" y="4223861"/>
            <a:ext cx="4276368" cy="18104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Connects to device sensors or fitness trackers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Updates step count in real time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Tracks daily activity goals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Displays weekly trends and patterns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29418" y="6207919"/>
            <a:ext cx="4276368" cy="9647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Encourages healthy lifestyle choices through continuous activity monitoring and goal achievement notifications.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070372"/>
            <a:ext cx="5670590" cy="7163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Theme System </a:t>
            </a:r>
            <a:r>
              <a:rPr lang="en-US" sz="44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🌙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405553" y="2191088"/>
            <a:ext cx="6624638" cy="1730812"/>
          </a:xfrm>
          <a:prstGeom prst="roundRect">
            <a:avLst>
              <a:gd name="adj" fmla="val 19658"/>
            </a:avLst>
          </a:prstGeom>
          <a:solidFill>
            <a:srgbClr val="FFFFFF"/>
          </a:solidFill>
          <a:ln w="30480">
            <a:solidFill>
              <a:srgbClr val="B3D5E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1268" y="2384227"/>
            <a:ext cx="2987757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Light Theme</a:t>
            </a:r>
            <a:endParaRPr lang="en-US" sz="2400" b="1" dirty="0"/>
          </a:p>
        </p:txBody>
      </p:sp>
      <p:sp>
        <p:nvSpPr>
          <p:cNvPr id="6" name="Text 3"/>
          <p:cNvSpPr/>
          <p:nvPr/>
        </p:nvSpPr>
        <p:spPr>
          <a:xfrm>
            <a:off x="641268" y="2874645"/>
            <a:ext cx="6092041" cy="7004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Bright, clean interface optimized for daytime use with high contrast for readability in well-lit environments.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05553" y="3995686"/>
            <a:ext cx="6624639" cy="1730812"/>
          </a:xfrm>
          <a:prstGeom prst="roundRect">
            <a:avLst>
              <a:gd name="adj" fmla="val 19658"/>
            </a:avLst>
          </a:prstGeom>
          <a:solidFill>
            <a:srgbClr val="FFFFFF"/>
          </a:solidFill>
          <a:ln w="30480">
            <a:solidFill>
              <a:srgbClr val="B3D5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1268" y="4218860"/>
            <a:ext cx="2987757" cy="3865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Dark Theme</a:t>
            </a:r>
            <a:endParaRPr lang="en-US" sz="2400" b="1" dirty="0"/>
          </a:p>
        </p:txBody>
      </p:sp>
      <p:sp>
        <p:nvSpPr>
          <p:cNvPr id="9" name="Text 6"/>
          <p:cNvSpPr/>
          <p:nvPr/>
        </p:nvSpPr>
        <p:spPr>
          <a:xfrm>
            <a:off x="641268" y="4832271"/>
            <a:ext cx="6092041" cy="5461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Reduced eye strain during nighttime use with darker color palette that saves battery on OLED displays.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1" y="6070520"/>
            <a:ext cx="6369009" cy="13132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Users can switch between themes instantly, and the entire website background, text colors, and components update to match the selected theme.</a:t>
            </a:r>
            <a:endParaRPr lang="en-US" sz="1750" dirty="0"/>
          </a:p>
        </p:txBody>
      </p:sp>
      <p:sp>
        <p:nvSpPr>
          <p:cNvPr id="11" name="AutoShape 2"/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5907" y="1786771"/>
            <a:ext cx="6957776" cy="49109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01272"/>
            <a:ext cx="8700849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Admin Dashboard Capabilities</a:t>
            </a:r>
            <a:endParaRPr lang="en-US" sz="44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4514" y="1856852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6464" y="1878030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View A </a:t>
            </a:r>
            <a:r>
              <a:rPr lang="en-US" sz="2200" b="1" dirty="0" err="1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ll</a:t>
            </a:r>
            <a:r>
              <a:rPr lang="en-US" sz="22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Users</a:t>
            </a:r>
            <a:endParaRPr lang="en-US" sz="2200" b="1" dirty="0"/>
          </a:p>
        </p:txBody>
      </p:sp>
      <p:sp>
        <p:nvSpPr>
          <p:cNvPr id="5" name="Text 2"/>
          <p:cNvSpPr/>
          <p:nvPr/>
        </p:nvSpPr>
        <p:spPr>
          <a:xfrm>
            <a:off x="1276464" y="2322706"/>
            <a:ext cx="3308153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Access complete user profiles, health data, and interaction history</a:t>
            </a:r>
            <a:endParaRPr lang="en-US" sz="1750" b="1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608" y="3971694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6463" y="393763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Monitor Chat Logs</a:t>
            </a:r>
            <a:endParaRPr lang="en-US" sz="2200" b="1" dirty="0"/>
          </a:p>
        </p:txBody>
      </p:sp>
      <p:sp>
        <p:nvSpPr>
          <p:cNvPr id="8" name="Text 4"/>
          <p:cNvSpPr/>
          <p:nvPr/>
        </p:nvSpPr>
        <p:spPr>
          <a:xfrm>
            <a:off x="1276464" y="4403633"/>
            <a:ext cx="3022404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Review all conversations between users and the AI chatbot</a:t>
            </a:r>
            <a:endParaRPr lang="en-US" sz="1750" b="1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81879" y="6128101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27992" y="615757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Track AI Usage</a:t>
            </a:r>
            <a:endParaRPr lang="en-US" sz="2200" b="1" dirty="0"/>
          </a:p>
        </p:txBody>
      </p:sp>
      <p:sp>
        <p:nvSpPr>
          <p:cNvPr id="11" name="Text 6"/>
          <p:cNvSpPr/>
          <p:nvPr/>
        </p:nvSpPr>
        <p:spPr>
          <a:xfrm>
            <a:off x="10027992" y="6634261"/>
            <a:ext cx="2963607" cy="7343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Monitor AI model performance and response patterns</a:t>
            </a:r>
            <a:endParaRPr lang="en-US" sz="1750" b="1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3157" y="6086536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3621" y="6086536"/>
            <a:ext cx="3022404" cy="2650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View Reported Issues</a:t>
            </a:r>
            <a:endParaRPr lang="en-US" sz="2200" b="1" dirty="0"/>
          </a:p>
        </p:txBody>
      </p:sp>
      <p:sp>
        <p:nvSpPr>
          <p:cNvPr id="14" name="Text 8"/>
          <p:cNvSpPr/>
          <p:nvPr/>
        </p:nvSpPr>
        <p:spPr>
          <a:xfrm>
            <a:off x="1323621" y="6576955"/>
            <a:ext cx="3129626" cy="8213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Identify and address user-reported problems promptly</a:t>
            </a:r>
            <a:endParaRPr lang="en-US" sz="1750" b="1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05265" y="6300296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947340" y="6143612"/>
            <a:ext cx="3672697" cy="5359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System Statistics</a:t>
            </a:r>
            <a:endParaRPr lang="en-US" sz="2200" b="1" dirty="0"/>
          </a:p>
        </p:txBody>
      </p:sp>
      <p:sp>
        <p:nvSpPr>
          <p:cNvPr id="17" name="Text 10"/>
          <p:cNvSpPr/>
          <p:nvPr/>
        </p:nvSpPr>
        <p:spPr>
          <a:xfrm>
            <a:off x="5947340" y="6576955"/>
            <a:ext cx="2565070" cy="1190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Monitor uptime, response times, and platform performance</a:t>
            </a:r>
            <a:endParaRPr lang="en-US" sz="1750" b="1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9591" y="1534524"/>
            <a:ext cx="8956523" cy="42725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65434"/>
            <a:ext cx="7003852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Admin Chatbot Features</a:t>
            </a:r>
            <a:endParaRPr lang="en-US" sz="44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727841"/>
            <a:ext cx="4196358" cy="2955250"/>
          </a:xfrm>
          <a:prstGeom prst="roundRect">
            <a:avLst>
              <a:gd name="adj" fmla="val 1151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224" y="2962275"/>
            <a:ext cx="680442" cy="68044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390" y="3149322"/>
            <a:ext cx="306110" cy="3061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8224" y="3869531"/>
            <a:ext cx="3088481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Floating Chatbot Icon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8224" y="4359950"/>
            <a:ext cx="3727490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Always-accessible chat interface on the admin dashboard for instant AI testing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216962" y="2727841"/>
            <a:ext cx="4196358" cy="2955250"/>
          </a:xfrm>
          <a:prstGeom prst="roundRect">
            <a:avLst>
              <a:gd name="adj" fmla="val 1151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1396" y="2962275"/>
            <a:ext cx="680442" cy="68044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562" y="3149322"/>
            <a:ext cx="306110" cy="3061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51396" y="3869531"/>
            <a:ext cx="3099316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Quick Chatbot Access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5451396" y="4359950"/>
            <a:ext cx="3727490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Test chatbot responses without navigating away from the current admin page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9640133" y="2727841"/>
            <a:ext cx="4196358" cy="2955250"/>
          </a:xfrm>
          <a:prstGeom prst="roundRect">
            <a:avLst>
              <a:gd name="adj" fmla="val 1151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4568" y="2962275"/>
            <a:ext cx="680442" cy="68044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61734" y="3149322"/>
            <a:ext cx="306110" cy="30611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874568" y="386953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Instant AI Testing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9874568" y="4359950"/>
            <a:ext cx="3727490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Validate chatbot responses and AI accuracy in real-time before deployment</a:t>
            </a:r>
            <a:endParaRPr lang="en-US" sz="1750" dirty="0"/>
          </a:p>
        </p:txBody>
      </p:sp>
      <p:sp>
        <p:nvSpPr>
          <p:cNvPr id="18" name="Text 10"/>
          <p:cNvSpPr/>
          <p:nvPr/>
        </p:nvSpPr>
        <p:spPr>
          <a:xfrm>
            <a:off x="793790" y="5938242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These admin page improvements allow administrators to test chatbot responses easily, ensuring accuracy and reliability before responses reach end users.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0565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Impact &amp; Benefits</a:t>
            </a:r>
            <a:endParaRPr lang="en-US" sz="44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1872972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B3D5E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310" y="1872972"/>
            <a:ext cx="121920" cy="17308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213026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⏱️ </a:t>
            </a:r>
            <a:r>
              <a:rPr lang="en-US" sz="22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Saves Time</a:t>
            </a:r>
            <a:endParaRPr lang="en-US" sz="2200" b="1" dirty="0"/>
          </a:p>
        </p:txBody>
      </p:sp>
      <p:sp>
        <p:nvSpPr>
          <p:cNvPr id="6" name="Text 3"/>
          <p:cNvSpPr/>
          <p:nvPr/>
        </p:nvSpPr>
        <p:spPr>
          <a:xfrm>
            <a:off x="1142524" y="2620685"/>
            <a:ext cx="580191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Instant AI responses eliminate waiting periods and reduce administrative workload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28548" y="1872972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B3D5E4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8067" y="1872972"/>
            <a:ext cx="121920" cy="17308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7282" y="2130266"/>
            <a:ext cx="3704034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🏥 </a:t>
            </a:r>
            <a:r>
              <a:rPr lang="en-US" sz="22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Reduces Physical Visits</a:t>
            </a:r>
            <a:endParaRPr lang="en-US" sz="2200" b="1" dirty="0"/>
          </a:p>
        </p:txBody>
      </p:sp>
      <p:sp>
        <p:nvSpPr>
          <p:cNvPr id="10" name="Text 6"/>
          <p:cNvSpPr/>
          <p:nvPr/>
        </p:nvSpPr>
        <p:spPr>
          <a:xfrm>
            <a:off x="7777282" y="2620685"/>
            <a:ext cx="580203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Addresses minor health concerns remotely, reserving clinic visits for serious issues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3830598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B3D5E4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310" y="3830598"/>
            <a:ext cx="121920" cy="17308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2524" y="4087892"/>
            <a:ext cx="4382691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📚 </a:t>
            </a:r>
            <a:r>
              <a:rPr lang="en-US" sz="22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Improves Health Awareness</a:t>
            </a:r>
            <a:endParaRPr lang="en-US" sz="2200" b="1" dirty="0"/>
          </a:p>
        </p:txBody>
      </p:sp>
      <p:sp>
        <p:nvSpPr>
          <p:cNvPr id="14" name="Text 9"/>
          <p:cNvSpPr/>
          <p:nvPr/>
        </p:nvSpPr>
        <p:spPr>
          <a:xfrm>
            <a:off x="1142524" y="4578310"/>
            <a:ext cx="580191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Educational content and proactive alerts increase user health literacy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428548" y="3830598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B3D5E4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8067" y="3830598"/>
            <a:ext cx="121920" cy="17308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7282" y="408789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🌐 </a:t>
            </a:r>
            <a:r>
              <a:rPr lang="en-US" sz="22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24/7 Accessible</a:t>
            </a:r>
            <a:endParaRPr lang="en-US" sz="2200" b="1" dirty="0"/>
          </a:p>
        </p:txBody>
      </p:sp>
      <p:sp>
        <p:nvSpPr>
          <p:cNvPr id="18" name="Text 12"/>
          <p:cNvSpPr/>
          <p:nvPr/>
        </p:nvSpPr>
        <p:spPr>
          <a:xfrm>
            <a:off x="7777282" y="4578310"/>
            <a:ext cx="580203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Available anytime, anywhere—users get support on-demand without time constraints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793790" y="5788223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B3D5E4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310" y="5788223"/>
            <a:ext cx="121920" cy="17308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2524" y="604551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🧑‍🤝‍🧑 </a:t>
            </a:r>
            <a:r>
              <a:rPr lang="en-US" sz="22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Global Support</a:t>
            </a:r>
            <a:endParaRPr lang="en-US" sz="2200" b="1" dirty="0"/>
          </a:p>
        </p:txBody>
      </p:sp>
      <p:sp>
        <p:nvSpPr>
          <p:cNvPr id="22" name="Text 15"/>
          <p:cNvSpPr/>
          <p:nvPr/>
        </p:nvSpPr>
        <p:spPr>
          <a:xfrm>
            <a:off x="1142524" y="6535936"/>
            <a:ext cx="580191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Multi-language support enables serving users across different regions and time zones</a:t>
            </a:r>
            <a:endParaRPr lang="en-US" sz="1750" dirty="0"/>
          </a:p>
        </p:txBody>
      </p:sp>
      <p:sp>
        <p:nvSpPr>
          <p:cNvPr id="23" name="Shape 16"/>
          <p:cNvSpPr/>
          <p:nvPr/>
        </p:nvSpPr>
        <p:spPr>
          <a:xfrm>
            <a:off x="7428548" y="5788223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B3D5E4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8067" y="5788223"/>
            <a:ext cx="121920" cy="173081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777282" y="6045518"/>
            <a:ext cx="3420666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📈 </a:t>
            </a:r>
            <a:r>
              <a:rPr lang="en-US" sz="22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Promotes Prevention</a:t>
            </a:r>
            <a:endParaRPr lang="en-US" sz="2200" b="1" dirty="0"/>
          </a:p>
        </p:txBody>
      </p:sp>
      <p:sp>
        <p:nvSpPr>
          <p:cNvPr id="26" name="Text 18"/>
          <p:cNvSpPr/>
          <p:nvPr/>
        </p:nvSpPr>
        <p:spPr>
          <a:xfrm>
            <a:off x="7777282" y="6535936"/>
            <a:ext cx="580203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Proactive monitoring and health tips encourage preventive care over reactive treatment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30298"/>
            <a:ext cx="820364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Advanced Health Monitoring</a:t>
            </a:r>
            <a:endParaRPr lang="en-US" sz="44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592705"/>
            <a:ext cx="4196358" cy="2039422"/>
          </a:xfrm>
          <a:prstGeom prst="roundRect">
            <a:avLst>
              <a:gd name="adj" fmla="val 1668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82713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⚖️ BMI Calculator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317558"/>
            <a:ext cx="372749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Tracks body mass index and health status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592705"/>
            <a:ext cx="4196358" cy="2039422"/>
          </a:xfrm>
          <a:prstGeom prst="roundRect">
            <a:avLst>
              <a:gd name="adj" fmla="val 1668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2827139"/>
            <a:ext cx="3727490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🍎 Diet Recommendations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3671888"/>
            <a:ext cx="372749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Suggests personalized healthy meal plans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592705"/>
            <a:ext cx="4196358" cy="2039422"/>
          </a:xfrm>
          <a:prstGeom prst="roundRect">
            <a:avLst>
              <a:gd name="adj" fmla="val 1668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282713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🔥 Calorie Tracker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3317558"/>
            <a:ext cx="372749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Monitors daily calorie intake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858941"/>
            <a:ext cx="6407944" cy="1322189"/>
          </a:xfrm>
          <a:prstGeom prst="roundRect">
            <a:avLst>
              <a:gd name="adj" fmla="val 2573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224" y="509337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😴 Sleep Tracker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8224" y="5583793"/>
            <a:ext cx="593907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Tracks sleep patterns and quality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858941"/>
            <a:ext cx="6407944" cy="1322189"/>
          </a:xfrm>
          <a:prstGeom prst="roundRect">
            <a:avLst>
              <a:gd name="adj" fmla="val 2573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62982" y="5093375"/>
            <a:ext cx="3152894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❤️ Heart Rate Monitor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62982" y="5583793"/>
            <a:ext cx="593907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Displays heart health data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93790" y="6436281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These features help users maintain a balanced and healthy lifestyle through data-driven insights.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6208" y="643771"/>
            <a:ext cx="7011233" cy="5632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Future Development Roadmap</a:t>
            </a:r>
            <a:endParaRPr lang="en-US" sz="3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03651" y="1493520"/>
            <a:ext cx="22860" cy="6092190"/>
          </a:xfrm>
          <a:prstGeom prst="roundRect">
            <a:avLst>
              <a:gd name="adj" fmla="val 1182812"/>
            </a:avLst>
          </a:prstGeom>
          <a:solidFill>
            <a:srgbClr val="B3D5E4"/>
          </a:solidFill>
        </p:spPr>
      </p:sp>
      <p:sp>
        <p:nvSpPr>
          <p:cNvPr id="4" name="Shape 2"/>
          <p:cNvSpPr/>
          <p:nvPr/>
        </p:nvSpPr>
        <p:spPr>
          <a:xfrm>
            <a:off x="6594515" y="1684853"/>
            <a:ext cx="540663" cy="22860"/>
          </a:xfrm>
          <a:prstGeom prst="roundRect">
            <a:avLst>
              <a:gd name="adj" fmla="val 1182812"/>
            </a:avLst>
          </a:prstGeom>
          <a:solidFill>
            <a:srgbClr val="B3D5E4"/>
          </a:solidFill>
        </p:spPr>
      </p:sp>
      <p:sp>
        <p:nvSpPr>
          <p:cNvPr id="5" name="Shape 3"/>
          <p:cNvSpPr/>
          <p:nvPr/>
        </p:nvSpPr>
        <p:spPr>
          <a:xfrm>
            <a:off x="7112318" y="1493520"/>
            <a:ext cx="405527" cy="405527"/>
          </a:xfrm>
          <a:prstGeom prst="roundRect">
            <a:avLst>
              <a:gd name="adj" fmla="val 66676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9945" y="1527334"/>
            <a:ext cx="270272" cy="3378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1</a:t>
            </a:r>
            <a:endParaRPr lang="en-US" sz="2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82246" y="1555432"/>
            <a:ext cx="2731651" cy="2892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🧬 Wearable Integration</a:t>
            </a:r>
            <a:endParaRPr lang="en-US" sz="1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6208" y="1930479"/>
            <a:ext cx="5317688" cy="5174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400" b="1" dirty="0">
                <a:latin typeface="Arial" panose="020B0604020202020204" pitchFamily="34" charset="0"/>
                <a:ea typeface="Manrope" pitchFamily="34" charset="-122"/>
                <a:cs typeface="Arial" panose="020B0604020202020204" pitchFamily="34" charset="0"/>
              </a:rPr>
              <a:t>Connect with smartwatches and fitness bands for automatic health data synchronization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494984" y="2692241"/>
            <a:ext cx="540663" cy="22860"/>
          </a:xfrm>
          <a:prstGeom prst="roundRect">
            <a:avLst>
              <a:gd name="adj" fmla="val 1182812"/>
            </a:avLst>
          </a:prstGeom>
          <a:solidFill>
            <a:srgbClr val="B3D5E4"/>
          </a:solidFill>
        </p:spPr>
      </p:sp>
      <p:sp>
        <p:nvSpPr>
          <p:cNvPr id="10" name="Shape 8"/>
          <p:cNvSpPr/>
          <p:nvPr/>
        </p:nvSpPr>
        <p:spPr>
          <a:xfrm>
            <a:off x="7112318" y="2500908"/>
            <a:ext cx="405527" cy="405527"/>
          </a:xfrm>
          <a:prstGeom prst="roundRect">
            <a:avLst>
              <a:gd name="adj" fmla="val 66676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9945" y="2534722"/>
            <a:ext cx="270272" cy="3378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2</a:t>
            </a:r>
            <a:endParaRPr lang="en-US" sz="2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16265" y="2562820"/>
            <a:ext cx="2724507" cy="2892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🧑‍⚕️ Doctor Consultations</a:t>
            </a:r>
            <a:endParaRPr lang="en-US" sz="1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16265" y="2937867"/>
            <a:ext cx="5317808" cy="5174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latin typeface="Arial" panose="020B0604020202020204" pitchFamily="34" charset="0"/>
                <a:ea typeface="Manrope" pitchFamily="34" charset="-122"/>
                <a:cs typeface="Arial" panose="020B0604020202020204" pitchFamily="34" charset="0"/>
              </a:rPr>
              <a:t>Seamless integration with healthcare providers for video consultations and medical advice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594515" y="3587353"/>
            <a:ext cx="540663" cy="22860"/>
          </a:xfrm>
          <a:prstGeom prst="roundRect">
            <a:avLst>
              <a:gd name="adj" fmla="val 1182812"/>
            </a:avLst>
          </a:prstGeom>
          <a:solidFill>
            <a:srgbClr val="B3D5E4"/>
          </a:solidFill>
        </p:spPr>
      </p:sp>
      <p:sp>
        <p:nvSpPr>
          <p:cNvPr id="15" name="Shape 13"/>
          <p:cNvSpPr/>
          <p:nvPr/>
        </p:nvSpPr>
        <p:spPr>
          <a:xfrm>
            <a:off x="7112318" y="3396020"/>
            <a:ext cx="405527" cy="405527"/>
          </a:xfrm>
          <a:prstGeom prst="roundRect">
            <a:avLst>
              <a:gd name="adj" fmla="val 66676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9945" y="3429833"/>
            <a:ext cx="270272" cy="3378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3</a:t>
            </a:r>
            <a:endParaRPr lang="en-US" sz="2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783330" y="3457932"/>
            <a:ext cx="2630567" cy="2892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📊 AI Health Prediction</a:t>
            </a:r>
            <a:endParaRPr lang="en-US" sz="1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96208" y="3832979"/>
            <a:ext cx="5317688" cy="5174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400" b="1" dirty="0">
                <a:latin typeface="Arial" panose="020B0604020202020204" pitchFamily="34" charset="0"/>
                <a:ea typeface="Manrope" pitchFamily="34" charset="-122"/>
                <a:cs typeface="Arial" panose="020B0604020202020204" pitchFamily="34" charset="0"/>
              </a:rPr>
              <a:t>Advanced predictive analytics using machine learning to identify potential health risks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494984" y="4482584"/>
            <a:ext cx="540663" cy="22860"/>
          </a:xfrm>
          <a:prstGeom prst="roundRect">
            <a:avLst>
              <a:gd name="adj" fmla="val 1182812"/>
            </a:avLst>
          </a:prstGeom>
          <a:solidFill>
            <a:srgbClr val="B3D5E4"/>
          </a:solidFill>
        </p:spPr>
      </p:sp>
      <p:sp>
        <p:nvSpPr>
          <p:cNvPr id="20" name="Shape 18"/>
          <p:cNvSpPr/>
          <p:nvPr/>
        </p:nvSpPr>
        <p:spPr>
          <a:xfrm>
            <a:off x="7112318" y="4291251"/>
            <a:ext cx="405527" cy="405527"/>
          </a:xfrm>
          <a:prstGeom prst="roundRect">
            <a:avLst>
              <a:gd name="adj" fmla="val 66676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9945" y="4325064"/>
            <a:ext cx="270272" cy="3378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4</a:t>
            </a:r>
            <a:endParaRPr lang="en-US" sz="2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16265" y="4353163"/>
            <a:ext cx="2253139" cy="2892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🗣️ Voice Interaction</a:t>
            </a:r>
            <a:endParaRPr lang="en-US" sz="1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16265" y="4728210"/>
            <a:ext cx="5317808" cy="2587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latin typeface="Arial" panose="020B0604020202020204" pitchFamily="34" charset="0"/>
                <a:ea typeface="Manrope" pitchFamily="34" charset="-122"/>
                <a:cs typeface="Arial" panose="020B0604020202020204" pitchFamily="34" charset="0"/>
              </a:rPr>
              <a:t>Voice-based chatbot for hands-free health assistance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94515" y="5377815"/>
            <a:ext cx="540663" cy="22860"/>
          </a:xfrm>
          <a:prstGeom prst="roundRect">
            <a:avLst>
              <a:gd name="adj" fmla="val 1182812"/>
            </a:avLst>
          </a:prstGeom>
          <a:solidFill>
            <a:srgbClr val="B3D5E4"/>
          </a:solidFill>
        </p:spPr>
      </p:sp>
      <p:sp>
        <p:nvSpPr>
          <p:cNvPr id="25" name="Shape 23"/>
          <p:cNvSpPr/>
          <p:nvPr/>
        </p:nvSpPr>
        <p:spPr>
          <a:xfrm>
            <a:off x="7112318" y="5186482"/>
            <a:ext cx="405527" cy="405527"/>
          </a:xfrm>
          <a:prstGeom prst="roundRect">
            <a:avLst>
              <a:gd name="adj" fmla="val 66676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9945" y="5220295"/>
            <a:ext cx="270272" cy="3378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5</a:t>
            </a:r>
            <a:endParaRPr lang="en-US" sz="2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160758" y="5248394"/>
            <a:ext cx="2253139" cy="2892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📱 Mobile App</a:t>
            </a:r>
            <a:endParaRPr lang="en-US" sz="1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96208" y="5623441"/>
            <a:ext cx="5317688" cy="5174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400" b="1" dirty="0">
                <a:latin typeface="Arial" panose="020B0604020202020204" pitchFamily="34" charset="0"/>
                <a:ea typeface="Manrope" pitchFamily="34" charset="-122"/>
                <a:cs typeface="Arial" panose="020B0604020202020204" pitchFamily="34" charset="0"/>
              </a:rPr>
              <a:t>Dedicated iOS and Android apps for enhanced mobile experience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494984" y="6273046"/>
            <a:ext cx="540663" cy="22860"/>
          </a:xfrm>
          <a:prstGeom prst="roundRect">
            <a:avLst>
              <a:gd name="adj" fmla="val 1182812"/>
            </a:avLst>
          </a:prstGeom>
          <a:solidFill>
            <a:srgbClr val="B3D5E4"/>
          </a:solidFill>
        </p:spPr>
      </p:sp>
      <p:sp>
        <p:nvSpPr>
          <p:cNvPr id="30" name="Shape 28"/>
          <p:cNvSpPr/>
          <p:nvPr/>
        </p:nvSpPr>
        <p:spPr>
          <a:xfrm>
            <a:off x="7112318" y="6081713"/>
            <a:ext cx="405527" cy="405527"/>
          </a:xfrm>
          <a:prstGeom prst="roundRect">
            <a:avLst>
              <a:gd name="adj" fmla="val 66676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79945" y="6115526"/>
            <a:ext cx="270272" cy="3378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6</a:t>
            </a:r>
            <a:endParaRPr lang="en-US" sz="2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216265" y="6143625"/>
            <a:ext cx="2253139" cy="2892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🧠 Personalized AI</a:t>
            </a:r>
            <a:endParaRPr lang="en-US" sz="1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216265" y="6518672"/>
            <a:ext cx="5317808" cy="5174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latin typeface="Arial" panose="020B0604020202020204" pitchFamily="34" charset="0"/>
                <a:ea typeface="Manrope" pitchFamily="34" charset="-122"/>
                <a:cs typeface="Arial" panose="020B0604020202020204" pitchFamily="34" charset="0"/>
              </a:rPr>
              <a:t>Improved AI personalization using user data and behavior patterns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6020" y="312772"/>
            <a:ext cx="5069371" cy="7604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73969"/>
            <a:ext cx="7556421" cy="12361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latin typeface="Arial Black" panose="020B0A04020102020204" pitchFamily="34" charset="0"/>
              </a:rPr>
              <a:t>CONCLUSION</a:t>
            </a:r>
            <a:endParaRPr lang="en-US" sz="4450" dirty="0">
              <a:latin typeface="Arial Black" panose="020B0A040201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259681" y="2923935"/>
            <a:ext cx="721625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Making healthcare smarter, faster, and more accessible for everyone.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763310" y="2668785"/>
            <a:ext cx="30480" cy="1236107"/>
          </a:xfrm>
          <a:prstGeom prst="rect">
            <a:avLst/>
          </a:prstGeom>
          <a:solidFill>
            <a:srgbClr val="AAE4FE"/>
          </a:solidFill>
        </p:spPr>
      </p:sp>
      <p:sp>
        <p:nvSpPr>
          <p:cNvPr id="6" name="Text 3"/>
          <p:cNvSpPr/>
          <p:nvPr/>
        </p:nvSpPr>
        <p:spPr>
          <a:xfrm>
            <a:off x="763310" y="4267915"/>
            <a:ext cx="7556421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WellBot is an intelligent AI-powered healthcare assistant that combines chatbot, analytics, and health tracking in one platform. It uses hybrid AI models for accurate and efficient responses while remaining user-friendly, secure, and scalable.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93790" y="6229707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Together, we're building a healthier future—one conversation at a time.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sis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0</TotalTime>
  <Words>7949</Words>
  <Application>WPS Presentation</Application>
  <PresentationFormat>Custom</PresentationFormat>
  <Paragraphs>280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2" baseType="lpstr">
      <vt:lpstr>Arial</vt:lpstr>
      <vt:lpstr>SimSun</vt:lpstr>
      <vt:lpstr>Wingdings</vt:lpstr>
      <vt:lpstr>Corbel</vt:lpstr>
      <vt:lpstr>Alexandria Medium</vt:lpstr>
      <vt:lpstr>Alexandria Medium</vt:lpstr>
      <vt:lpstr>Alexandria Medium</vt:lpstr>
      <vt:lpstr>Manrope</vt:lpstr>
      <vt:lpstr>Manrope</vt:lpstr>
      <vt:lpstr>Manrope</vt:lpstr>
      <vt:lpstr>Arial Black</vt:lpstr>
      <vt:lpstr>Calibri</vt:lpstr>
      <vt:lpstr>Times New Roman</vt:lpstr>
      <vt:lpstr>Microsoft YaHei</vt:lpstr>
      <vt:lpstr>Arial Unicode MS</vt:lpstr>
      <vt:lpstr>Basis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Apeksha Jain</dc:creator>
  <cp:lastModifiedBy>Sakshi Z</cp:lastModifiedBy>
  <cp:revision>17</cp:revision>
  <dcterms:created xsi:type="dcterms:W3CDTF">2026-03-19T06:42:00Z</dcterms:created>
  <dcterms:modified xsi:type="dcterms:W3CDTF">2026-03-30T13:12:57Z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03015E978F3546A5B068F31A61295CA9_13</vt:lpwstr>
  </property>
  <property fmtid="{D5CDD505-2E9C-101B-9397-08002B2CF9AE}" pid="3" name="KSOProductBuildVer">
    <vt:lpwstr>1033-12.2.0.23196</vt:lpwstr>
  </property>
</Properties>
</file>