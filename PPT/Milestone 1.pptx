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18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71" r:id="rId16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19.png"/><Relationship Id="rId7" Type="http://schemas.openxmlformats.org/officeDocument/2006/relationships/tags" Target="../tags/tag3.xml"/><Relationship Id="rId6" Type="http://schemas.openxmlformats.org/officeDocument/2006/relationships/image" Target="../media/image18.png"/><Relationship Id="rId5" Type="http://schemas.openxmlformats.org/officeDocument/2006/relationships/tags" Target="../tags/tag2.xml"/><Relationship Id="rId4" Type="http://schemas.openxmlformats.org/officeDocument/2006/relationships/image" Target="../media/image17.png"/><Relationship Id="rId3" Type="http://schemas.openxmlformats.org/officeDocument/2006/relationships/tags" Target="../tags/tag1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12.xml"/><Relationship Id="rId22" Type="http://schemas.openxmlformats.org/officeDocument/2006/relationships/tags" Target="../tags/tag11.xml"/><Relationship Id="rId21" Type="http://schemas.openxmlformats.org/officeDocument/2006/relationships/tags" Target="../tags/tag10.xml"/><Relationship Id="rId20" Type="http://schemas.openxmlformats.org/officeDocument/2006/relationships/image" Target="../media/image25.png"/><Relationship Id="rId2" Type="http://schemas.openxmlformats.org/officeDocument/2006/relationships/image" Target="../media/image4.png"/><Relationship Id="rId19" Type="http://schemas.openxmlformats.org/officeDocument/2006/relationships/tags" Target="../tags/tag9.xml"/><Relationship Id="rId18" Type="http://schemas.openxmlformats.org/officeDocument/2006/relationships/image" Target="../media/image24.png"/><Relationship Id="rId17" Type="http://schemas.openxmlformats.org/officeDocument/2006/relationships/tags" Target="../tags/tag8.xml"/><Relationship Id="rId16" Type="http://schemas.openxmlformats.org/officeDocument/2006/relationships/image" Target="../media/image23.png"/><Relationship Id="rId15" Type="http://schemas.openxmlformats.org/officeDocument/2006/relationships/tags" Target="../tags/tag7.xml"/><Relationship Id="rId14" Type="http://schemas.openxmlformats.org/officeDocument/2006/relationships/image" Target="../media/image22.png"/><Relationship Id="rId13" Type="http://schemas.openxmlformats.org/officeDocument/2006/relationships/tags" Target="../tags/tag6.xml"/><Relationship Id="rId12" Type="http://schemas.openxmlformats.org/officeDocument/2006/relationships/image" Target="../media/image21.png"/><Relationship Id="rId11" Type="http://schemas.openxmlformats.org/officeDocument/2006/relationships/tags" Target="../tags/tag5.xml"/><Relationship Id="rId10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image" Target="../media/image9.png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2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654"/>
            <a:ext cx="12124873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23" y="1677996"/>
            <a:ext cx="952500" cy="952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2707" y="3011496"/>
            <a:ext cx="11032331" cy="1809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6375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WellBot – Milestone Review</a:t>
            </a:r>
            <a:endParaRPr lang="en-US" sz="6375" dirty="0"/>
          </a:p>
        </p:txBody>
      </p:sp>
      <p:sp>
        <p:nvSpPr>
          <p:cNvPr id="6" name="Text 1"/>
          <p:cNvSpPr/>
          <p:nvPr/>
        </p:nvSpPr>
        <p:spPr>
          <a:xfrm>
            <a:off x="176713" y="5011745"/>
            <a:ext cx="1170432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AI-Based Wellness Chatbot System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563053" y="6521219"/>
            <a:ext cx="11032331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Presented By: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
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Wellness Chat Bot Team A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313873" y="6769554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6305550" y="2005013"/>
            <a:ext cx="24803100" cy="742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Mental Health Accessibility Gap</a:t>
            </a:r>
            <a:endParaRPr lang="en-US" sz="5250" dirty="0"/>
          </a:p>
        </p:txBody>
      </p:sp>
      <p:sp>
        <p:nvSpPr>
          <p:cNvPr id="5" name="Text 1"/>
          <p:cNvSpPr/>
          <p:nvPr/>
        </p:nvSpPr>
        <p:spPr>
          <a:xfrm>
            <a:off x="3833812" y="3471863"/>
            <a:ext cx="137160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Increasing demand for 24/7 mental health support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3833812" y="4005262"/>
            <a:ext cx="1207008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Limited availability of traditional services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833812" y="4538663"/>
            <a:ext cx="117957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Accessibility barriers due to social stigma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833812" y="5072063"/>
            <a:ext cx="131673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Need for private, AI-driven emotional assistance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43200"/>
            <a:ext cx="3619500" cy="2876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625" y="30861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743200"/>
            <a:ext cx="3619500" cy="2876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450" y="3086100"/>
            <a:ext cx="41910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2743200"/>
            <a:ext cx="3619500" cy="2876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275" y="3086100"/>
            <a:ext cx="361950" cy="476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-1333500" y="762000"/>
            <a:ext cx="14859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Core Purpose &amp; Objectives</a:t>
            </a:r>
            <a:endParaRPr lang="en-US" sz="3900" dirty="0"/>
          </a:p>
        </p:txBody>
      </p:sp>
      <p:sp>
        <p:nvSpPr>
          <p:cNvPr id="11" name="Text 1"/>
          <p:cNvSpPr/>
          <p:nvPr/>
        </p:nvSpPr>
        <p:spPr>
          <a:xfrm>
            <a:off x="-735330" y="3857625"/>
            <a:ext cx="585216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Wellness Support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6667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Providing empathetic AI companionship and support.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3901440" y="3857625"/>
            <a:ext cx="438912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Habit &amp; Mood</a:t>
            </a:r>
            <a:endParaRPr lang="en-US" sz="2400" dirty="0"/>
          </a:p>
        </p:txBody>
      </p:sp>
      <p:sp>
        <p:nvSpPr>
          <p:cNvPr id="14" name="Text 4"/>
          <p:cNvSpPr/>
          <p:nvPr/>
        </p:nvSpPr>
        <p:spPr>
          <a:xfrm>
            <a:off x="457200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Tracking stress levels and cultivating healthy habits.</a:t>
            </a:r>
            <a:endParaRPr lang="en-US" sz="1800" dirty="0"/>
          </a:p>
        </p:txBody>
      </p:sp>
      <p:sp>
        <p:nvSpPr>
          <p:cNvPr id="15" name="Text 5"/>
          <p:cNvSpPr/>
          <p:nvPr/>
        </p:nvSpPr>
        <p:spPr>
          <a:xfrm>
            <a:off x="7440930" y="3857625"/>
            <a:ext cx="512064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User Interface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84772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Minimalist, user-friendly, and accessible design.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471738"/>
            <a:ext cx="5476875" cy="34194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688" y="4824413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471738"/>
            <a:ext cx="5476875" cy="34194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75" y="4824413"/>
            <a:ext cx="714375" cy="5715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-441960" y="762000"/>
            <a:ext cx="1307592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WellBot’s Unique Value</a:t>
            </a:r>
            <a:endParaRPr lang="en-US" sz="3900" dirty="0"/>
          </a:p>
        </p:txBody>
      </p:sp>
      <p:sp>
        <p:nvSpPr>
          <p:cNvPr id="9" name="Text 1"/>
          <p:cNvSpPr/>
          <p:nvPr/>
        </p:nvSpPr>
        <p:spPr>
          <a:xfrm>
            <a:off x="-1452562" y="2852738"/>
            <a:ext cx="9144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24/7 AI Assistance</a:t>
            </a:r>
            <a:endParaRPr lang="en-US" sz="3000" dirty="0"/>
          </a:p>
        </p:txBody>
      </p:sp>
      <p:sp>
        <p:nvSpPr>
          <p:cNvPr id="10" name="Text 2"/>
          <p:cNvSpPr/>
          <p:nvPr/>
        </p:nvSpPr>
        <p:spPr>
          <a:xfrm>
            <a:off x="762000" y="3643313"/>
            <a:ext cx="4714875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Instant responses for people feeling isolated or uncomfortable seeking human help.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6100763" y="2852738"/>
            <a:ext cx="5943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Privacy-First</a:t>
            </a:r>
            <a:endParaRPr lang="en-US" sz="3000" dirty="0"/>
          </a:p>
        </p:txBody>
      </p:sp>
      <p:sp>
        <p:nvSpPr>
          <p:cNvPr id="12" name="Text 4"/>
          <p:cNvSpPr/>
          <p:nvPr/>
        </p:nvSpPr>
        <p:spPr>
          <a:xfrm>
            <a:off x="6715125" y="3643313"/>
            <a:ext cx="4714875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Secure platform with emotional monitoring and data protection at its core.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2276475"/>
            <a:ext cx="3810000" cy="381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8" y="2276475"/>
            <a:ext cx="3810000" cy="3810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2225040" y="762000"/>
            <a:ext cx="1664208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System Architecture Overview</a:t>
            </a:r>
            <a:endParaRPr lang="en-US" sz="3900" dirty="0"/>
          </a:p>
        </p:txBody>
      </p:sp>
      <p:sp>
        <p:nvSpPr>
          <p:cNvPr id="7" name="Text 1"/>
          <p:cNvSpPr/>
          <p:nvPr/>
        </p:nvSpPr>
        <p:spPr>
          <a:xfrm>
            <a:off x="5795010" y="3185478"/>
            <a:ext cx="123444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Flask Backend: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Core logic and API management.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5795010" y="3719512"/>
            <a:ext cx="1207008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Safety Filter: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Real-time content moderation.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5655310" y="4252278"/>
            <a:ext cx="1380744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OpenAI GPT-3.5: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Advanced NLP for empathetic chat.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5795010" y="4785678"/>
            <a:ext cx="137160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MongoDB:</a:t>
            </a: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Scalable storage for user data and chats.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1000" y="2454325"/>
            <a:ext cx="3619500" cy="34543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1500" y="2644825"/>
            <a:ext cx="3238500" cy="2381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1500" y="2644825"/>
            <a:ext cx="3238500" cy="2381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6250" y="2454325"/>
            <a:ext cx="3619500" cy="345430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476750" y="2644825"/>
            <a:ext cx="3238500" cy="2381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76750" y="2644825"/>
            <a:ext cx="3238500" cy="2381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191500" y="2454325"/>
            <a:ext cx="3619500" cy="345430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382000" y="2644825"/>
            <a:ext cx="3238500" cy="2381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382000" y="2644825"/>
            <a:ext cx="3238500" cy="23812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762000"/>
            <a:ext cx="11430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Technology Stack</a:t>
            </a:r>
            <a:endParaRPr lang="en-US" sz="3900" dirty="0"/>
          </a:p>
        </p:txBody>
      </p:sp>
      <p:sp>
        <p:nvSpPr>
          <p:cNvPr id="14" name="Text 1"/>
          <p:cNvSpPr/>
          <p:nvPr>
            <p:custDataLst>
              <p:tags r:id="rId21"/>
            </p:custDataLst>
          </p:nvPr>
        </p:nvSpPr>
        <p:spPr>
          <a:xfrm>
            <a:off x="-565249" y="5216575"/>
            <a:ext cx="54864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Frontend: Html, Css &amp; JS</a:t>
            </a:r>
            <a:endParaRPr lang="en-US" sz="1500" dirty="0"/>
          </a:p>
        </p:txBody>
      </p:sp>
      <p:sp>
        <p:nvSpPr>
          <p:cNvPr id="15" name="Text 2"/>
          <p:cNvSpPr/>
          <p:nvPr>
            <p:custDataLst>
              <p:tags r:id="rId22"/>
            </p:custDataLst>
          </p:nvPr>
        </p:nvSpPr>
        <p:spPr>
          <a:xfrm>
            <a:off x="3340001" y="5216575"/>
            <a:ext cx="54864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Backend: Flask &amp; MongoDB</a:t>
            </a:r>
            <a:endParaRPr lang="en-US" sz="1500" dirty="0"/>
          </a:p>
        </p:txBody>
      </p:sp>
      <p:sp>
        <p:nvSpPr>
          <p:cNvPr id="16" name="Text 3"/>
          <p:cNvSpPr/>
          <p:nvPr>
            <p:custDataLst>
              <p:tags r:id="rId23"/>
            </p:custDataLst>
          </p:nvPr>
        </p:nvSpPr>
        <p:spPr>
          <a:xfrm>
            <a:off x="7473851" y="5216575"/>
            <a:ext cx="50292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Styling: Glassmorphism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43200"/>
            <a:ext cx="3619500" cy="2876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3086100"/>
            <a:ext cx="45720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743200"/>
            <a:ext cx="3619500" cy="28765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308610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2743200"/>
            <a:ext cx="3619500" cy="2876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3125" y="3086100"/>
            <a:ext cx="476250" cy="476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-1333500" y="762000"/>
            <a:ext cx="14859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Security &amp; Authentication</a:t>
            </a:r>
            <a:endParaRPr lang="en-US" sz="3900" dirty="0"/>
          </a:p>
        </p:txBody>
      </p:sp>
      <p:sp>
        <p:nvSpPr>
          <p:cNvPr id="11" name="Text 1"/>
          <p:cNvSpPr/>
          <p:nvPr/>
        </p:nvSpPr>
        <p:spPr>
          <a:xfrm>
            <a:off x="-3810" y="3857625"/>
            <a:ext cx="438912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Google OAuth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6667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Secure and seamless third-party authentication.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2987040" y="3857625"/>
            <a:ext cx="621792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SHA-256 Hashing</a:t>
            </a:r>
            <a:endParaRPr lang="en-US" sz="2400" dirty="0"/>
          </a:p>
        </p:txBody>
      </p:sp>
      <p:sp>
        <p:nvSpPr>
          <p:cNvPr id="14" name="Text 4"/>
          <p:cNvSpPr/>
          <p:nvPr/>
        </p:nvSpPr>
        <p:spPr>
          <a:xfrm>
            <a:off x="457200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Advanced encryption for sensitive user data.</a:t>
            </a:r>
            <a:endParaRPr lang="en-US" sz="1800" dirty="0"/>
          </a:p>
        </p:txBody>
      </p:sp>
      <p:sp>
        <p:nvSpPr>
          <p:cNvPr id="15" name="Text 5"/>
          <p:cNvSpPr/>
          <p:nvPr/>
        </p:nvSpPr>
        <p:spPr>
          <a:xfrm>
            <a:off x="7075170" y="3857625"/>
            <a:ext cx="585216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Crisis Detection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8477250" y="4419600"/>
            <a:ext cx="3048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Keyword monitoring for immediate safety alerts.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381000" y="681990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" y="1152963"/>
            <a:ext cx="12155637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488" y="2810313"/>
            <a:ext cx="5476874" cy="428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036" y="2483710"/>
            <a:ext cx="6324452" cy="41555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-405597" y="1533963"/>
            <a:ext cx="1307592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Registration Interface</a:t>
            </a:r>
            <a:endParaRPr lang="en-US" sz="3900" dirty="0"/>
          </a:p>
        </p:txBody>
      </p:sp>
      <p:sp>
        <p:nvSpPr>
          <p:cNvPr id="7" name="Text 1"/>
          <p:cNvSpPr/>
          <p:nvPr/>
        </p:nvSpPr>
        <p:spPr>
          <a:xfrm>
            <a:off x="417363" y="3715635"/>
            <a:ext cx="768096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Onboarding Experience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607863" y="4201410"/>
            <a:ext cx="131673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Interactive mascot behavior for user engagement.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607863" y="4734810"/>
            <a:ext cx="123444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Smart input fields with real-time validation.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607863" y="5268210"/>
            <a:ext cx="877824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Dynamic password strength meter.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607863" y="5801610"/>
            <a:ext cx="117957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Clear, step-by-step guidance for new users.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417363" y="7591863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28" y="934590"/>
            <a:ext cx="11940272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8" y="2591940"/>
            <a:ext cx="5476875" cy="4286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28" y="2591940"/>
            <a:ext cx="5476875" cy="428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36" y="2131295"/>
            <a:ext cx="6790879" cy="440724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32728" y="1315590"/>
            <a:ext cx="1143000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Login Interface</a:t>
            </a:r>
            <a:endParaRPr lang="en-US" sz="3900" dirty="0"/>
          </a:p>
        </p:txBody>
      </p:sp>
      <p:sp>
        <p:nvSpPr>
          <p:cNvPr id="8" name="Text 1"/>
          <p:cNvSpPr/>
          <p:nvPr/>
        </p:nvSpPr>
        <p:spPr>
          <a:xfrm>
            <a:off x="7290689" y="3463698"/>
            <a:ext cx="548640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Seamless Access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7632226" y="3949473"/>
            <a:ext cx="104241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Elegant two-panel split layout design.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7682572" y="4466091"/>
            <a:ext cx="1097280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One-tap secure Google OAuth integration.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7716135" y="5016273"/>
            <a:ext cx="1124712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Fully responsive design for mobile &amp; web.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7749703" y="5549673"/>
            <a:ext cx="11795760" cy="390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Remember-me functionality and secure reset.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632728" y="7373490"/>
            <a:ext cx="342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391025"/>
            <a:ext cx="11430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82454"/>
            <a:ext cx="2346871" cy="147429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710" y="3682454"/>
            <a:ext cx="2346871" cy="14742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420" y="3682454"/>
            <a:ext cx="2346871" cy="14742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3129" y="3682454"/>
            <a:ext cx="2346871" cy="1474291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1630680" y="762000"/>
            <a:ext cx="1545336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Milestone Progress Summary</a:t>
            </a:r>
            <a:endParaRPr lang="en-US" sz="3900" dirty="0"/>
          </a:p>
        </p:txBody>
      </p:sp>
      <p:sp>
        <p:nvSpPr>
          <p:cNvPr id="10" name="Text 1"/>
          <p:cNvSpPr/>
          <p:nvPr/>
        </p:nvSpPr>
        <p:spPr>
          <a:xfrm>
            <a:off x="815295" y="3872954"/>
            <a:ext cx="2240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Backend</a:t>
            </a:r>
            <a:endParaRPr lang="en-US" sz="2100" dirty="0"/>
          </a:p>
        </p:txBody>
      </p:sp>
      <p:sp>
        <p:nvSpPr>
          <p:cNvPr id="11" name="Text 2"/>
          <p:cNvSpPr/>
          <p:nvPr/>
        </p:nvSpPr>
        <p:spPr>
          <a:xfrm>
            <a:off x="952500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Flask Setup &amp; MongoDB Connected</a:t>
            </a:r>
            <a:endParaRPr lang="en-US" sz="1350" dirty="0"/>
          </a:p>
        </p:txBody>
      </p:sp>
      <p:sp>
        <p:nvSpPr>
          <p:cNvPr id="12" name="Text 3"/>
          <p:cNvSpPr/>
          <p:nvPr/>
        </p:nvSpPr>
        <p:spPr>
          <a:xfrm>
            <a:off x="3726210" y="3872954"/>
            <a:ext cx="1965871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Auth</a:t>
            </a:r>
            <a:endParaRPr lang="en-US" sz="2100" dirty="0"/>
          </a:p>
        </p:txBody>
      </p:sp>
      <p:sp>
        <p:nvSpPr>
          <p:cNvPr id="13" name="Text 4"/>
          <p:cNvSpPr/>
          <p:nvPr/>
        </p:nvSpPr>
        <p:spPr>
          <a:xfrm>
            <a:off x="3726210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Google OAuth &amp; SHA-256 Integrated</a:t>
            </a:r>
            <a:endParaRPr lang="en-US" sz="1350" dirty="0"/>
          </a:p>
        </p:txBody>
      </p:sp>
      <p:sp>
        <p:nvSpPr>
          <p:cNvPr id="14" name="Text 5"/>
          <p:cNvSpPr/>
          <p:nvPr/>
        </p:nvSpPr>
        <p:spPr>
          <a:xfrm>
            <a:off x="6362715" y="3872954"/>
            <a:ext cx="2240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AI Core</a:t>
            </a:r>
            <a:endParaRPr lang="en-US" sz="2100" dirty="0"/>
          </a:p>
        </p:txBody>
      </p:sp>
      <p:sp>
        <p:nvSpPr>
          <p:cNvPr id="15" name="Text 6"/>
          <p:cNvSpPr/>
          <p:nvPr/>
        </p:nvSpPr>
        <p:spPr>
          <a:xfrm>
            <a:off x="6499920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OpenAI API &amp; Safety Filter Live</a:t>
            </a: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8976405" y="3872954"/>
            <a:ext cx="25603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Frontend</a:t>
            </a:r>
            <a:endParaRPr lang="en-US" sz="2100" dirty="0"/>
          </a:p>
        </p:txBody>
      </p:sp>
      <p:sp>
        <p:nvSpPr>
          <p:cNvPr id="17" name="Text 8"/>
          <p:cNvSpPr/>
          <p:nvPr/>
        </p:nvSpPr>
        <p:spPr>
          <a:xfrm>
            <a:off x="9273629" y="4349204"/>
            <a:ext cx="1965871" cy="44559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100% Functional Responsive UI</a:t>
            </a:r>
            <a:endParaRPr lang="en-US" sz="1350" dirty="0"/>
          </a:p>
        </p:txBody>
      </p:sp>
      <p:sp>
        <p:nvSpPr>
          <p:cNvPr id="18" name="Text 9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290"/>
            <a:ext cx="12192000" cy="6858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1769110" y="1234440"/>
            <a:ext cx="15453360" cy="4375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endParaRPr lang="en-US" altLang="en-US" sz="3900" b="1" dirty="0">
              <a:solidFill>
                <a:schemeClr val="accent6">
                  <a:lumMod val="50000"/>
                </a:schemeClr>
              </a:solidFill>
              <a:latin typeface="Comfortaa" pitchFamily="34" charset="0"/>
              <a:cs typeface="Comfortaa" pitchFamily="34" charset="0"/>
              <a:sym typeface="+mn-ea"/>
            </a:endParaRPr>
          </a:p>
          <a:p>
            <a:pPr marL="0" indent="0" algn="ctr">
              <a:buNone/>
            </a:pPr>
            <a:r>
              <a:rPr lang="en-US" altLang="en-US" sz="3900" b="1" dirty="0">
                <a:solidFill>
                  <a:schemeClr val="accent6">
                    <a:lumMod val="50000"/>
                  </a:schemeClr>
                </a:solidFill>
                <a:latin typeface="Comfortaa" pitchFamily="34" charset="0"/>
                <a:cs typeface="Comfortaa" pitchFamily="34" charset="0"/>
                <a:sym typeface="+mn-ea"/>
              </a:rPr>
              <a:t>Agile Development Approac</a:t>
            </a:r>
            <a:r>
              <a:rPr lang="en-IN" altLang="en-US" sz="3900" b="1" dirty="0">
                <a:solidFill>
                  <a:schemeClr val="accent6">
                    <a:lumMod val="50000"/>
                  </a:schemeClr>
                </a:solidFill>
                <a:latin typeface="Comfortaa" pitchFamily="34" charset="0"/>
                <a:cs typeface="Comfortaa" pitchFamily="34" charset="0"/>
                <a:sym typeface="+mn-ea"/>
              </a:rPr>
              <a:t>h</a:t>
            </a:r>
            <a:endParaRPr lang="en-US" altLang="en-US" sz="3900" b="1" dirty="0">
              <a:solidFill>
                <a:schemeClr val="accent6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  <a:p>
            <a:pPr marL="0" indent="0" algn="ctr">
              <a:buNone/>
            </a:pPr>
            <a:endParaRPr lang="en-US" sz="3900" dirty="0"/>
          </a:p>
        </p:txBody>
      </p:sp>
      <p:sp>
        <p:nvSpPr>
          <p:cNvPr id="18" name="Text 9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IN" alt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endParaRPr lang="en-US" sz="1350" dirty="0"/>
          </a:p>
        </p:txBody>
      </p:sp>
      <p:pic>
        <p:nvPicPr>
          <p:cNvPr id="37" name="Picture 36" descr="Screenshot (1427)"/>
          <p:cNvPicPr>
            <a:picLocks noChangeAspect="1"/>
          </p:cNvPicPr>
          <p:nvPr/>
        </p:nvPicPr>
        <p:blipFill>
          <a:blip r:embed="rId3"/>
          <a:srcRect l="63781" t="40778" r="6698" b="30426"/>
          <a:stretch>
            <a:fillRect/>
          </a:stretch>
        </p:blipFill>
        <p:spPr>
          <a:xfrm>
            <a:off x="1344930" y="3094355"/>
            <a:ext cx="4751070" cy="260731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rcRect l="12176" t="5972" r="22277"/>
          <a:stretch>
            <a:fillRect/>
          </a:stretch>
        </p:blipFill>
        <p:spPr>
          <a:xfrm>
            <a:off x="6414770" y="2498725"/>
            <a:ext cx="3992880" cy="4359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-2600960" y="1038860"/>
            <a:ext cx="15453360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3900" b="1" dirty="0">
                <a:solidFill>
                  <a:schemeClr val="accent6">
                    <a:lumMod val="50000"/>
                  </a:schemeClr>
                </a:solidFill>
                <a:latin typeface="Comfortaa" pitchFamily="34" charset="0"/>
                <a:cs typeface="Comfortaa" pitchFamily="34" charset="0"/>
              </a:rPr>
              <a:t>Testing &amp; Validation Framework</a:t>
            </a:r>
            <a:endParaRPr lang="en-US" altLang="en-US" sz="3900" b="1" dirty="0">
              <a:solidFill>
                <a:schemeClr val="accent6">
                  <a:lumMod val="50000"/>
                </a:schemeClr>
              </a:solidFill>
              <a:latin typeface="Comfortaa" pitchFamily="34" charset="0"/>
              <a:cs typeface="Comfortaa" pitchFamily="34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</a:t>
            </a:r>
            <a:r>
              <a:rPr lang="en-IN" alt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2</a:t>
            </a:r>
            <a:endParaRPr lang="en-IN" altLang="en-US" sz="1350" b="1" dirty="0">
              <a:solidFill>
                <a:srgbClr val="52B788"/>
              </a:solidFill>
              <a:latin typeface="Afacad Flux" pitchFamily="34" charset="0"/>
              <a:ea typeface="Afacad Flux" pitchFamily="34" charset="-122"/>
              <a:cs typeface="Afacad Flux" pitchFamily="34" charset="-12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692140" y="2680335"/>
            <a:ext cx="5830570" cy="4177665"/>
          </a:xfrm>
          <a:prstGeom prst="rect">
            <a:avLst/>
          </a:prstGeom>
        </p:spPr>
        <p:txBody>
          <a:bodyPr>
            <a:noAutofit/>
          </a:bodyPr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Security Validation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OAuth, SHA-256, crisis detection checks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Usability Testing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Minimalist UI validated across devices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Performance Testing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Flask + MongoDB load handling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Example Test Case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  <a:sym typeface="+mn-ea"/>
              </a:rPr>
              <a:t>Input: </a:t>
            </a: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“I feel anxious.”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  <a:p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 </a:t>
            </a:r>
            <a:r>
              <a:rPr lang="en-US" altLang="zh-CN" b="1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Output: </a:t>
            </a:r>
            <a:r>
              <a:rPr lang="en-US" altLang="zh-CN">
                <a:solidFill>
                  <a:schemeClr val="accent6">
                    <a:lumMod val="50000"/>
                  </a:schemeClr>
                </a:solidFill>
                <a:latin typeface="Afacad Flux" pitchFamily="34" charset="0"/>
                <a:cs typeface="Afacad Flux" pitchFamily="34" charset="0"/>
              </a:rPr>
              <a:t>Empathetic response + stress log update</a:t>
            </a:r>
            <a:endParaRPr lang="en-US" altLang="zh-CN">
              <a:solidFill>
                <a:schemeClr val="accent6">
                  <a:lumMod val="50000"/>
                </a:schemeClr>
              </a:solidFill>
              <a:latin typeface="Afacad Flux" pitchFamily="34" charset="0"/>
              <a:cs typeface="Afacad Flux" pitchFamily="34" charset="0"/>
            </a:endParaRPr>
          </a:p>
        </p:txBody>
      </p:sp>
      <p:pic>
        <p:nvPicPr>
          <p:cNvPr id="21" name="Picture 20" descr="Screenshot (1429)"/>
          <p:cNvPicPr>
            <a:picLocks noChangeAspect="1"/>
          </p:cNvPicPr>
          <p:nvPr/>
        </p:nvPicPr>
        <p:blipFill>
          <a:blip r:embed="rId3"/>
          <a:srcRect l="63870" t="27509" r="3745" b="30741"/>
          <a:stretch>
            <a:fillRect/>
          </a:stretch>
        </p:blipFill>
        <p:spPr>
          <a:xfrm>
            <a:off x="1182370" y="2937510"/>
            <a:ext cx="3948430" cy="286321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109788"/>
            <a:ext cx="762000" cy="762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81000" y="3319463"/>
            <a:ext cx="11430000" cy="742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1B433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Conclusion</a:t>
            </a:r>
            <a:endParaRPr lang="en-US" sz="5250" dirty="0"/>
          </a:p>
        </p:txBody>
      </p:sp>
      <p:sp>
        <p:nvSpPr>
          <p:cNvPr id="6" name="Text 1"/>
          <p:cNvSpPr/>
          <p:nvPr/>
        </p:nvSpPr>
        <p:spPr>
          <a:xfrm>
            <a:off x="2286000" y="4062412"/>
            <a:ext cx="7620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dirty="0">
                <a:solidFill>
                  <a:srgbClr val="2D6A4F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WellBot bridges the mental health gap with AI intelligence, secure authentication, and a wellness-driven interface.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381000" y="5129213"/>
            <a:ext cx="1143000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381000" y="68199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2B788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2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3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4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5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6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7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8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9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10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11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ags/tag12.xml><?xml version="1.0" encoding="utf-8"?>
<p:tagLst xmlns:p="http://schemas.openxmlformats.org/presentationml/2006/main">
  <p:tag name="KSO_WM_DIAGRAM_VIRTUALLY_FRAME" val="{&quot;height&quot;:271.9922047244095,&quot;left&quot;:-44.50779527559055,&quot;top&quot;:193.25393700787401,&quot;width&quot;:10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2288</Words>
  <Application>WPS Presentation</Application>
  <PresentationFormat>On-screen Show (16:9)</PresentationFormat>
  <Paragraphs>164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Comfortaa</vt:lpstr>
      <vt:lpstr>Segoe Print</vt:lpstr>
      <vt:lpstr>Comfortaa</vt:lpstr>
      <vt:lpstr>Comfortaa</vt:lpstr>
      <vt:lpstr>Afacad Flux</vt:lpstr>
      <vt:lpstr>Afacad Flux</vt:lpstr>
      <vt:lpstr>Afacad Flux</vt:lpstr>
      <vt:lpstr>Arial</vt:lpstr>
      <vt:lpstr>Calibri</vt:lpstr>
      <vt:lpstr>Microsoft YaHei</vt:lpstr>
      <vt:lpstr>Arial Unicode MS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Sakshi Z</cp:lastModifiedBy>
  <cp:revision>4</cp:revision>
  <dcterms:created xsi:type="dcterms:W3CDTF">2026-02-11T17:58:00Z</dcterms:created>
  <dcterms:modified xsi:type="dcterms:W3CDTF">2026-03-30T13:08:40Z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5617BEBB96F24E2AA9F36AEBA187B608_13</vt:lpwstr>
  </property>
  <property fmtid="{D5CDD505-2E9C-101B-9397-08002B2CF9AE}" pid="3" name="KSOProductBuildVer">
    <vt:lpwstr>1033-12.2.0.23196</vt:lpwstr>
  </property>
</Properties>
</file>