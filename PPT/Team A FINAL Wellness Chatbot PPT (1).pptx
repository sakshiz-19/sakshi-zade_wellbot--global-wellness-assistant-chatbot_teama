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18"/>
  </p:notesMasterIdLst>
  <p:sldIdLst>
    <p:sldId id="256" r:id="rId2"/>
    <p:sldId id="273" r:id="rId3"/>
    <p:sldId id="266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9" r:id="rId12"/>
    <p:sldId id="268" r:id="rId13"/>
    <p:sldId id="270" r:id="rId14"/>
    <p:sldId id="271" r:id="rId15"/>
    <p:sldId id="272" r:id="rId16"/>
    <p:sldId id="267" r:id="rId17"/>
  </p:sldIdLst>
  <p:sldSz cx="14630400" cy="8229600"/>
  <p:notesSz cx="8229600" cy="146304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Alexandria Medium" panose="020B0604020202020204" charset="-78"/>
      <p:regular r:id="rId23"/>
    </p:embeddedFont>
    <p:embeddedFont>
      <p:font typeface="Corbel" panose="020B0503020204020204" pitchFamily="34" charset="0"/>
      <p:regular r:id="rId24"/>
      <p:bold r:id="rId25"/>
      <p:italic r:id="rId26"/>
      <p:boldItalic r:id="rId27"/>
    </p:embeddedFont>
    <p:embeddedFont>
      <p:font typeface="Arial Black" panose="020B0A04020102020204" pitchFamily="34" charset="0"/>
      <p:bold r:id="rId28"/>
    </p:embeddedFont>
    <p:embeddedFont>
      <p:font typeface="Manrope" panose="020B0604020202020204" charset="0"/>
      <p:regular r:id="rId2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805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726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976" y="1058851"/>
            <a:ext cx="11960352" cy="3511296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64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1436" y="4643561"/>
            <a:ext cx="10521432" cy="1665798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rgbClr val="FFFFFF"/>
                </a:solidFill>
              </a:defRPr>
            </a:lvl1pPr>
            <a:lvl2pPr marL="548640" indent="0" algn="ctr">
              <a:buNone/>
              <a:defRPr sz="2640"/>
            </a:lvl2pPr>
            <a:lvl3pPr marL="1097280" indent="0" algn="ctr">
              <a:buNone/>
              <a:defRPr sz="264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74393" y="4480560"/>
            <a:ext cx="98755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78196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74476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709" y="1408290"/>
            <a:ext cx="11960352" cy="351129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864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1914" y="4985424"/>
            <a:ext cx="10522915" cy="1636567"/>
          </a:xfrm>
        </p:spPr>
        <p:txBody>
          <a:bodyPr anchor="t">
            <a:normAutofit/>
          </a:bodyPr>
          <a:lstStyle>
            <a:lvl1pPr marL="0" indent="0" algn="ctr">
              <a:buNone/>
              <a:defRPr sz="2640">
                <a:solidFill>
                  <a:schemeClr val="accent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377441" y="4824490"/>
            <a:ext cx="98755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4211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468879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21134" y="2468880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1790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401813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265780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23008" y="2398838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23008" y="3263186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1372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8770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73583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2591" y="1316736"/>
            <a:ext cx="6254496" cy="5596128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621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0652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5897" y="1283816"/>
            <a:ext cx="7318858" cy="576072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4564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3437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04008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914400"/>
            <a:ext cx="2788920" cy="64922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914400"/>
            <a:ext cx="8915400" cy="64922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74624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83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8107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295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0039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49006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80347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918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79637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9618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73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731520"/>
            <a:ext cx="11850624" cy="1627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468880"/>
            <a:ext cx="11847445" cy="4846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595" y="7468594"/>
            <a:ext cx="279488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smtClean="0"/>
              <a:pPr/>
              <a:t>3/20/2026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38978" y="7468594"/>
            <a:ext cx="566132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5437" y="7468594"/>
            <a:ext cx="20474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872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19456" algn="l" defTabSz="1097280" rtl="0" eaLnBrk="1" latinLnBrk="0" hangingPunct="1">
        <a:lnSpc>
          <a:spcPct val="90000"/>
        </a:lnSpc>
        <a:spcBef>
          <a:spcPts val="1680"/>
        </a:spcBef>
        <a:buClr>
          <a:schemeClr val="accent1"/>
        </a:buClr>
        <a:buSzPct val="80000"/>
        <a:buFont typeface="Corbel" pitchFamily="34" charset="0"/>
        <a:buChar char="•"/>
        <a:defRPr sz="264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21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13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svg"/><Relationship Id="rId11" Type="http://schemas.openxmlformats.org/officeDocument/2006/relationships/image" Target="../media/image14.png"/><Relationship Id="rId5" Type="http://schemas.openxmlformats.org/officeDocument/2006/relationships/image" Target="../media/image11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13.png"/><Relationship Id="rId14" Type="http://schemas.openxmlformats.org/officeDocument/2006/relationships/image" Target="../media/image2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12" Type="http://schemas.openxmlformats.org/officeDocument/2006/relationships/image" Target="../media/image4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svg"/><Relationship Id="rId11" Type="http://schemas.openxmlformats.org/officeDocument/2006/relationships/image" Target="../media/image25.png"/><Relationship Id="rId5" Type="http://schemas.openxmlformats.org/officeDocument/2006/relationships/image" Target="../media/image22.png"/><Relationship Id="rId10" Type="http://schemas.openxmlformats.org/officeDocument/2006/relationships/image" Target="../media/image38.svg"/><Relationship Id="rId4" Type="http://schemas.openxmlformats.org/officeDocument/2006/relationships/image" Target="../media/image32.sv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7.png"/><Relationship Id="rId7" Type="http://schemas.openxmlformats.org/officeDocument/2006/relationships/image" Target="../media/image45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8.png"/><Relationship Id="rId5" Type="http://schemas.openxmlformats.org/officeDocument/2006/relationships/image" Target="../media/image43.svg"/><Relationship Id="rId4" Type="http://schemas.openxmlformats.org/officeDocument/2006/relationships/image" Target="../media/image5.png"/><Relationship Id="rId9" Type="http://schemas.openxmlformats.org/officeDocument/2006/relationships/image" Target="../media/image47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30048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60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WellBot</a:t>
            </a:r>
            <a:endParaRPr lang="en-US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804404"/>
            <a:ext cx="55589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AI-Powered Wellness Chatbot Platform</a:t>
            </a:r>
            <a:endParaRPr lang="en-US" sz="2800" b="1" dirty="0"/>
          </a:p>
        </p:txBody>
      </p:sp>
      <p:sp>
        <p:nvSpPr>
          <p:cNvPr id="5" name="Text 2"/>
          <p:cNvSpPr/>
          <p:nvPr/>
        </p:nvSpPr>
        <p:spPr>
          <a:xfrm>
            <a:off x="793790" y="4498896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 healthcare assistance with hybrid AI and real-time analytics for personalized wellness guidance</a:t>
            </a:r>
            <a:endParaRPr lang="en-US" sz="20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8AFA8F-8391-42EB-B8AD-3DEE9117A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007" y="307208"/>
            <a:ext cx="5558910" cy="7625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11165C-98F2-4CE6-A7E3-45F490C62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7553" y="2160271"/>
            <a:ext cx="5237066" cy="29752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048619-48FE-4BCC-A483-741F51E05BD0}"/>
              </a:ext>
            </a:extLst>
          </p:cNvPr>
          <p:cNvSpPr txBox="1"/>
          <p:nvPr/>
        </p:nvSpPr>
        <p:spPr>
          <a:xfrm>
            <a:off x="945322" y="1530350"/>
            <a:ext cx="7857948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Team Members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smtClean="0">
                <a:latin typeface="Arial" panose="020B0604020202020204" pitchFamily="34" charset="0"/>
              </a:rPr>
              <a:t>Sameer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Gained understanding of end-to-end client–server architecture integrating Flask APIs, </a:t>
            </a:r>
            <a:r>
              <a:rPr lang="en-US" altLang="en-US" sz="1600" dirty="0" err="1">
                <a:latin typeface="Arial" panose="020B0604020202020204" pitchFamily="34" charset="0"/>
              </a:rPr>
              <a:t>WebSockets</a:t>
            </a:r>
            <a:r>
              <a:rPr lang="en-US" altLang="en-US" sz="1600" dirty="0">
                <a:latin typeface="Arial" panose="020B0604020202020204" pitchFamily="34" charset="0"/>
              </a:rPr>
              <a:t>, and API Keys</a:t>
            </a:r>
            <a:r>
              <a:rPr lang="en-US" altLang="en-US" sz="1600" b="1" dirty="0" smtClean="0">
                <a:latin typeface="Arial" panose="020B0604020202020204" pitchFamily="34" charset="0"/>
              </a:rPr>
              <a:t>   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 smtClean="0">
                <a:latin typeface="Arial" panose="020B0604020202020204" pitchFamily="34" charset="0"/>
              </a:rPr>
              <a:t>Tejaswini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Developed hands-on expertise in building NLP pipelines from tokenization to intent classification.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Arial" panose="020B0604020202020204" pitchFamily="34" charset="0"/>
              </a:rPr>
              <a:t>Apeksha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Learned to implement secure authentication using </a:t>
            </a:r>
            <a:r>
              <a:rPr lang="en-US" altLang="en-US" sz="1600" dirty="0" err="1">
                <a:latin typeface="Arial" panose="020B0604020202020204" pitchFamily="34" charset="0"/>
              </a:rPr>
              <a:t>bcrypt</a:t>
            </a:r>
            <a:r>
              <a:rPr lang="en-US" altLang="en-US" sz="1600" dirty="0">
                <a:latin typeface="Arial" panose="020B0604020202020204" pitchFamily="34" charset="0"/>
              </a:rPr>
              <a:t> and JWT, emphasizing security-first design.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smtClean="0">
                <a:latin typeface="Arial" panose="020B0604020202020204" pitchFamily="34" charset="0"/>
              </a:rPr>
              <a:t>Avinash </a:t>
            </a:r>
            <a:r>
              <a:rPr lang="en-US" altLang="en-US" sz="1600" b="1" dirty="0" err="1" smtClean="0">
                <a:latin typeface="Arial" panose="020B0604020202020204" pitchFamily="34" charset="0"/>
              </a:rPr>
              <a:t>Patil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Explored responsible deployment of LLMs in healthcare using </a:t>
            </a:r>
            <a:r>
              <a:rPr lang="en-US" altLang="en-US" sz="1600" dirty="0" err="1">
                <a:latin typeface="Arial" panose="020B0604020202020204" pitchFamily="34" charset="0"/>
              </a:rPr>
              <a:t>OpenAI</a:t>
            </a:r>
            <a:r>
              <a:rPr lang="en-US" altLang="en-US" sz="1600" dirty="0">
                <a:latin typeface="Arial" panose="020B0604020202020204" pitchFamily="34" charset="0"/>
              </a:rPr>
              <a:t> GPT and prompt engineering.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Arial" panose="020B0604020202020204" pitchFamily="34" charset="0"/>
              </a:rPr>
              <a:t>Sakshi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Built strong foundations in SQL database design and multi-user session management.</a:t>
            </a:r>
          </a:p>
          <a:p>
            <a:pPr lvl="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 err="1">
                <a:latin typeface="Arial" panose="020B0604020202020204" pitchFamily="34" charset="0"/>
              </a:rPr>
              <a:t>Harika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lang="en-US" altLang="en-US" sz="1600" dirty="0">
                <a:latin typeface="Arial" panose="020B0604020202020204" pitchFamily="34" charset="0"/>
              </a:rPr>
              <a:t> Understood the importance of UI/UX in AI systems through frontend development and theming.</a:t>
            </a:r>
          </a:p>
          <a:p>
            <a:endParaRPr lang="en-US" altLang="en-US" sz="1600" dirty="0">
              <a:latin typeface="Arial" panose="020B0604020202020204" pitchFamily="34" charset="0"/>
            </a:endParaRPr>
          </a:p>
          <a:p>
            <a:endParaRPr lang="en-US" sz="44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8811508-A40D-42CF-AD7B-92710573E6FB}"/>
              </a:ext>
            </a:extLst>
          </p:cNvPr>
          <p:cNvCxnSpPr/>
          <p:nvPr/>
        </p:nvCxnSpPr>
        <p:spPr>
          <a:xfrm flipV="1">
            <a:off x="882015" y="6819900"/>
            <a:ext cx="7985538" cy="44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947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33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 Black" panose="020B0A04020102020204" pitchFamily="34" charset="0"/>
                <a:ea typeface="Alexandria Medium" pitchFamily="34" charset="-122"/>
                <a:cs typeface="Alexandria Medium" pitchFamily="34" charset="-120"/>
              </a:rPr>
              <a:t>Platform Overview</a:t>
            </a:r>
            <a:endParaRPr lang="en-US" sz="4450" b="1" dirty="0">
              <a:latin typeface="Arial Black" panose="020B0A040201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638943" y="2904173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WellBot combines conversational AI, health analytics, and wellness tracking into a unified platform. Using hybrid AI models, it delivers accurate responses while tracking health metrics like BMI, calories, sleep, and heart rate.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5285661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platform is designed to be user-friendly, secure, and scalable for healthcare organizations.</a:t>
            </a:r>
            <a:endParaRPr lang="en-US" sz="175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ADF2A65-EBA5-4CE1-9693-681C69412F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2DC37A-E7C2-41E7-A10E-50D36EB043C4}"/>
              </a:ext>
            </a:extLst>
          </p:cNvPr>
          <p:cNvSpPr/>
          <p:nvPr/>
        </p:nvSpPr>
        <p:spPr>
          <a:xfrm>
            <a:off x="628651" y="2354580"/>
            <a:ext cx="7920990" cy="4482846"/>
          </a:xfrm>
          <a:prstGeom prst="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06418B-8A68-493B-BADE-CAE8B8923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457450"/>
            <a:ext cx="7668220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708" y="848558"/>
            <a:ext cx="6559391" cy="636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2708" y="1850469"/>
            <a:ext cx="13204984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Current healthcare systems create barriers that prevent people from getting the quick, accessible guidance they need.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12708" y="2365177"/>
            <a:ext cx="6511052" cy="2571036"/>
          </a:xfrm>
          <a:prstGeom prst="roundRect">
            <a:avLst>
              <a:gd name="adj" fmla="val 1188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576393"/>
            <a:ext cx="610791" cy="61079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91922" y="2744391"/>
            <a:ext cx="274796" cy="2747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3925" y="3369945"/>
            <a:ext cx="2909768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Prescription Confusion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923925" y="3797737"/>
            <a:ext cx="6088618" cy="927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Patients struggle to understand complex medication instructions and dosage requirements from handwritten or printed prescriptions.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406521" y="2365177"/>
            <a:ext cx="6511171" cy="2571036"/>
          </a:xfrm>
          <a:prstGeom prst="roundRect">
            <a:avLst>
              <a:gd name="adj" fmla="val 11881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7738" y="2576393"/>
            <a:ext cx="610791" cy="61079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7785735" y="2744391"/>
            <a:ext cx="274796" cy="2747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17738" y="3369945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Limited Access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617738" y="3797737"/>
            <a:ext cx="6088737" cy="927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Quick health advice is difficult to obtain outside regular office hours, leaving patients without immediate support during urgent moments.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712708" y="5118973"/>
            <a:ext cx="6511052" cy="2261949"/>
          </a:xfrm>
          <a:prstGeom prst="roundRect">
            <a:avLst>
              <a:gd name="adj" fmla="val 13504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" y="5330190"/>
            <a:ext cx="610791" cy="610791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91922" y="5498187"/>
            <a:ext cx="274796" cy="274796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23925" y="6123742"/>
            <a:ext cx="3078718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No Centralized Platform</a:t>
            </a:r>
            <a:endParaRPr lang="en-US" sz="2000" dirty="0"/>
          </a:p>
        </p:txBody>
      </p:sp>
      <p:sp>
        <p:nvSpPr>
          <p:cNvPr id="18" name="Text 10"/>
          <p:cNvSpPr/>
          <p:nvPr/>
        </p:nvSpPr>
        <p:spPr>
          <a:xfrm>
            <a:off x="923925" y="6551533"/>
            <a:ext cx="6088618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Health information remains fragmented across multiple sources without an integrated AI-powered wellness hub.</a:t>
            </a:r>
            <a:endParaRPr lang="en-US" sz="1600" dirty="0"/>
          </a:p>
        </p:txBody>
      </p:sp>
      <p:sp>
        <p:nvSpPr>
          <p:cNvPr id="19" name="Shape 11"/>
          <p:cNvSpPr/>
          <p:nvPr/>
        </p:nvSpPr>
        <p:spPr>
          <a:xfrm>
            <a:off x="7406521" y="5118973"/>
            <a:ext cx="6511171" cy="2261949"/>
          </a:xfrm>
          <a:prstGeom prst="roundRect">
            <a:avLst>
              <a:gd name="adj" fmla="val 13504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7738" y="5330190"/>
            <a:ext cx="610791" cy="610791"/>
          </a:xfrm>
          <a:prstGeom prst="rect">
            <a:avLst/>
          </a:prstGeom>
        </p:spPr>
      </p:pic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7785735" y="5498187"/>
            <a:ext cx="274796" cy="274796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17738" y="6123742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Tracking Gaps</a:t>
            </a:r>
            <a:endParaRPr lang="en-US" sz="2000" dirty="0"/>
          </a:p>
        </p:txBody>
      </p:sp>
      <p:sp>
        <p:nvSpPr>
          <p:cNvPr id="23" name="Text 13"/>
          <p:cNvSpPr/>
          <p:nvPr/>
        </p:nvSpPr>
        <p:spPr>
          <a:xfrm>
            <a:off x="7617738" y="6551533"/>
            <a:ext cx="6088737" cy="61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Lack of personalized, continuous health tracking prevents users from monitoring wellness trends and making informed decisions.</a:t>
            </a:r>
            <a:endParaRPr lang="en-US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93E90F-1A00-49BF-96D7-39CD75B39A9D}"/>
              </a:ext>
            </a:extLst>
          </p:cNvPr>
          <p:cNvSpPr txBox="1"/>
          <p:nvPr/>
        </p:nvSpPr>
        <p:spPr>
          <a:xfrm>
            <a:off x="745331" y="852918"/>
            <a:ext cx="7315200" cy="55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Problem Statement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740" y="267195"/>
            <a:ext cx="5569528" cy="76952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29052"/>
            <a:ext cx="57594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Introducing WellBot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27799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 complete digital healthcare assistant experience combining intelligent chatbot technology, prescription analysis, and real-time wellness monitoring.</a:t>
            </a: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27903F-7B4E-4E6A-BC09-CA9CB46A415F}"/>
              </a:ext>
            </a:extLst>
          </p:cNvPr>
          <p:cNvSpPr txBox="1"/>
          <p:nvPr/>
        </p:nvSpPr>
        <p:spPr>
          <a:xfrm>
            <a:off x="627535" y="4114800"/>
            <a:ext cx="7127052" cy="2458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 wellness chatbot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Prescription image analysis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Symptom checker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Nutrition guidance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Admin monitoring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859036"/>
            <a:ext cx="5316260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Core Features</a:t>
            </a:r>
            <a:endParaRPr lang="en-US" sz="41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44260" y="1922145"/>
            <a:ext cx="531614" cy="531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25072" y="1922145"/>
            <a:ext cx="2718673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AI-Powered Chatbot</a:t>
            </a:r>
            <a:endParaRPr lang="en-US" sz="2050" b="1" dirty="0"/>
          </a:p>
        </p:txBody>
      </p:sp>
      <p:sp>
        <p:nvSpPr>
          <p:cNvPr id="5" name="Text 2"/>
          <p:cNvSpPr/>
          <p:nvPr/>
        </p:nvSpPr>
        <p:spPr>
          <a:xfrm>
            <a:off x="1525072" y="2373987"/>
            <a:ext cx="5665470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Instant health guidance through natural language conversations with intelligent AI that understands medical context and provides accurate, helpful responses.</a:t>
            </a:r>
            <a:endParaRPr lang="en-US" sz="165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7439739" y="1922145"/>
            <a:ext cx="531614" cy="531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0551" y="1922145"/>
            <a:ext cx="3693914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Prescription Image Analysis</a:t>
            </a:r>
            <a:endParaRPr lang="en-US" sz="2050" b="1" dirty="0"/>
          </a:p>
        </p:txBody>
      </p:sp>
      <p:sp>
        <p:nvSpPr>
          <p:cNvPr id="8" name="Text 4"/>
          <p:cNvSpPr/>
          <p:nvPr/>
        </p:nvSpPr>
        <p:spPr>
          <a:xfrm>
            <a:off x="8220551" y="2373987"/>
            <a:ext cx="5665589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Upload prescription images and let AI automatically extract medication names, dosages, and instructions for easy understanding.</a:t>
            </a:r>
            <a:endParaRPr lang="en-US" sz="165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44260" y="4090868"/>
            <a:ext cx="531614" cy="531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25072" y="409086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Symptom Checker</a:t>
            </a:r>
            <a:endParaRPr lang="en-US" sz="2050" b="1" dirty="0"/>
          </a:p>
        </p:txBody>
      </p:sp>
      <p:sp>
        <p:nvSpPr>
          <p:cNvPr id="11" name="Text 6"/>
          <p:cNvSpPr/>
          <p:nvPr/>
        </p:nvSpPr>
        <p:spPr>
          <a:xfrm>
            <a:off x="1525072" y="4542711"/>
            <a:ext cx="5665470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Describe symptoms and receive preliminary diagnosis support, helping users understand potential conditions and decide when to seek medical care.</a:t>
            </a:r>
            <a:endParaRPr lang="en-US" sz="165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439739" y="4090868"/>
            <a:ext cx="531614" cy="5316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0551" y="4090868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Nutrition Guidance</a:t>
            </a:r>
            <a:endParaRPr lang="en-US" sz="2050" b="1" dirty="0"/>
          </a:p>
        </p:txBody>
      </p:sp>
      <p:sp>
        <p:nvSpPr>
          <p:cNvPr id="14" name="Text 8"/>
          <p:cNvSpPr/>
          <p:nvPr/>
        </p:nvSpPr>
        <p:spPr>
          <a:xfrm>
            <a:off x="8220551" y="4542711"/>
            <a:ext cx="5665589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Get personalized dietary recommendations based on health goals, conditions, and preferences to support overall wellness.</a:t>
            </a:r>
            <a:endParaRPr lang="en-US" sz="1650" b="1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744260" y="5930027"/>
            <a:ext cx="531614" cy="5316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25072" y="5930027"/>
            <a:ext cx="347519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Secure Data Management</a:t>
            </a:r>
            <a:endParaRPr lang="en-US" sz="2050" b="1" dirty="0"/>
          </a:p>
        </p:txBody>
      </p:sp>
      <p:sp>
        <p:nvSpPr>
          <p:cNvPr id="17" name="Text 10"/>
          <p:cNvSpPr/>
          <p:nvPr/>
        </p:nvSpPr>
        <p:spPr>
          <a:xfrm>
            <a:off x="1525072" y="6381869"/>
            <a:ext cx="5665470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End-to-end encryption and secure database storage protect sensitive health information with enterprise-grade security protocols.</a:t>
            </a:r>
            <a:endParaRPr lang="en-US" sz="1650" b="1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7439739" y="5930027"/>
            <a:ext cx="531614" cy="53161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0551" y="5930027"/>
            <a:ext cx="3256836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Multi-Language Support</a:t>
            </a:r>
            <a:endParaRPr lang="en-US" sz="2050" b="1" dirty="0"/>
          </a:p>
        </p:txBody>
      </p:sp>
      <p:sp>
        <p:nvSpPr>
          <p:cNvPr id="20" name="Text 12"/>
          <p:cNvSpPr/>
          <p:nvPr/>
        </p:nvSpPr>
        <p:spPr>
          <a:xfrm>
            <a:off x="8220551" y="6381869"/>
            <a:ext cx="5665589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Access wellness guidance in multiple languages, breaking down communication barriers for global users.</a:t>
            </a:r>
            <a:endParaRPr lang="en-US" sz="165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4994" y="506968"/>
            <a:ext cx="4316492" cy="525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6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System Architecture</a:t>
            </a:r>
            <a:endParaRPr 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55023" y="1356598"/>
            <a:ext cx="12908478" cy="673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WellBot uses a hybrid AI architecture that routes requests to the most appropriate AI model based on query complexity and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6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requirements</a:t>
            </a: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300" b="1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19" y="1936432"/>
            <a:ext cx="504349" cy="1143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</p:pic>
      <p:sp>
        <p:nvSpPr>
          <p:cNvPr id="5" name="Text 2"/>
          <p:cNvSpPr/>
          <p:nvPr/>
        </p:nvSpPr>
        <p:spPr>
          <a:xfrm>
            <a:off x="1219437" y="2073520"/>
            <a:ext cx="210169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User Interface</a:t>
            </a:r>
            <a:endParaRPr lang="en-US" sz="1650" b="1" dirty="0"/>
          </a:p>
        </p:txBody>
      </p:sp>
      <p:sp>
        <p:nvSpPr>
          <p:cNvPr id="6" name="Text 3"/>
          <p:cNvSpPr/>
          <p:nvPr/>
        </p:nvSpPr>
        <p:spPr>
          <a:xfrm>
            <a:off x="1204669" y="2456132"/>
            <a:ext cx="10972443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Web and mobile frontend providing chat interface, dashboard, and image upload capabilities.</a:t>
            </a:r>
            <a:endParaRPr lang="en-US" sz="1300" b="1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263" y="2989124"/>
            <a:ext cx="504349" cy="1143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41317" y="3101578"/>
            <a:ext cx="2186226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Frontend Dashboard</a:t>
            </a:r>
            <a:endParaRPr lang="en-US" sz="1650" b="1" dirty="0"/>
          </a:p>
        </p:txBody>
      </p:sp>
      <p:sp>
        <p:nvSpPr>
          <p:cNvPr id="9" name="Text 5"/>
          <p:cNvSpPr/>
          <p:nvPr/>
        </p:nvSpPr>
        <p:spPr>
          <a:xfrm>
            <a:off x="1471612" y="3482459"/>
            <a:ext cx="10720268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Interactive user experience with real-time updates, wellness tracking, and personalized content display.</a:t>
            </a:r>
            <a:endParaRPr lang="en-US" sz="1300" b="1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707" y="4114800"/>
            <a:ext cx="504349" cy="1143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86056" y="4258116"/>
            <a:ext cx="210169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Flask Backend API</a:t>
            </a:r>
            <a:endParaRPr lang="en-US" sz="1650" b="1" dirty="0"/>
          </a:p>
        </p:txBody>
      </p:sp>
      <p:sp>
        <p:nvSpPr>
          <p:cNvPr id="12" name="Text 7"/>
          <p:cNvSpPr/>
          <p:nvPr/>
        </p:nvSpPr>
        <p:spPr>
          <a:xfrm>
            <a:off x="1786056" y="4648650"/>
            <a:ext cx="10468094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RESTful API handles authentication, request routing, data validation, and response formatting.</a:t>
            </a:r>
            <a:endParaRPr lang="en-US" sz="1300" b="1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7579" y="5191933"/>
            <a:ext cx="504349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2163616" y="5404353"/>
            <a:ext cx="2101691" cy="262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AI Model Router</a:t>
            </a:r>
            <a:endParaRPr lang="en-US" sz="1650" b="1" dirty="0"/>
          </a:p>
        </p:txBody>
      </p:sp>
      <p:sp>
        <p:nvSpPr>
          <p:cNvPr id="15" name="Text 9"/>
          <p:cNvSpPr/>
          <p:nvPr/>
        </p:nvSpPr>
        <p:spPr>
          <a:xfrm>
            <a:off x="2162431" y="5823585"/>
            <a:ext cx="10215920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Intelligent routing system directs queries to Groq, Gemini, Ollama, or OpenAI based on requirements.</a:t>
            </a:r>
            <a:endParaRPr lang="en-US" sz="1300" b="1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114" y="6451283"/>
            <a:ext cx="504349" cy="1143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34430" y="6490824"/>
            <a:ext cx="2057400" cy="234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Database Storage</a:t>
            </a:r>
            <a:endParaRPr lang="en-US" sz="1650" b="1" dirty="0"/>
          </a:p>
        </p:txBody>
      </p:sp>
      <p:sp>
        <p:nvSpPr>
          <p:cNvPr id="18" name="Text 11"/>
          <p:cNvSpPr/>
          <p:nvPr/>
        </p:nvSpPr>
        <p:spPr>
          <a:xfrm>
            <a:off x="2534430" y="6914079"/>
            <a:ext cx="9458206" cy="486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MongoDB stores user profiles, chat history, health data, and prescription analysis results securely.</a:t>
            </a:r>
            <a:endParaRPr lang="en-US" sz="1300" b="1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44C2B8-70A0-46C0-8034-0AC89455E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1637" y="2062851"/>
            <a:ext cx="4440628" cy="336711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117" y="587097"/>
            <a:ext cx="7134344" cy="674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Multi-Language System </a:t>
            </a:r>
            <a:r>
              <a:rPr lang="en-US" sz="42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🌍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7117" y="1714501"/>
            <a:ext cx="2668548" cy="569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Global Accessibility</a:t>
            </a:r>
            <a:endParaRPr lang="en-US" sz="2100" b="1" dirty="0"/>
          </a:p>
        </p:txBody>
      </p:sp>
      <p:sp>
        <p:nvSpPr>
          <p:cNvPr id="4" name="Text 2"/>
          <p:cNvSpPr/>
          <p:nvPr/>
        </p:nvSpPr>
        <p:spPr>
          <a:xfrm>
            <a:off x="747117" y="2284049"/>
            <a:ext cx="5276493" cy="1726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WellBot supports multiple languages to serve diverse user populations. Users can change the interface language with a single click, making healthcare assistance accessible to everyone regardless of their native language.</a:t>
            </a:r>
          </a:p>
        </p:txBody>
      </p:sp>
      <p:sp>
        <p:nvSpPr>
          <p:cNvPr id="5" name="Text 3"/>
          <p:cNvSpPr/>
          <p:nvPr/>
        </p:nvSpPr>
        <p:spPr>
          <a:xfrm>
            <a:off x="747117" y="4211836"/>
            <a:ext cx="4263866" cy="333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Currently Supported Languages</a:t>
            </a:r>
            <a:endParaRPr lang="en-US" sz="2100" b="1" dirty="0"/>
          </a:p>
        </p:txBody>
      </p:sp>
      <p:sp>
        <p:nvSpPr>
          <p:cNvPr id="6" name="Text 4"/>
          <p:cNvSpPr/>
          <p:nvPr/>
        </p:nvSpPr>
        <p:spPr>
          <a:xfrm>
            <a:off x="747117" y="4746188"/>
            <a:ext cx="8356163" cy="153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English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- Primary interface language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Hindi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- Serving Indian population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Kannada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- Regional language support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Spanish</a:t>
            </a: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- Global Spanish speakers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7119" y="6463545"/>
            <a:ext cx="5379362" cy="10204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Additional languages can be added based on</a:t>
            </a:r>
          </a:p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 market demand and user feedback</a:t>
            </a:r>
            <a:r>
              <a:rPr lang="en-US" sz="165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6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890C98-6058-4510-8801-C8AE744EF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490" y="1606677"/>
            <a:ext cx="7989570" cy="58773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2115" y="883206"/>
            <a:ext cx="8309967" cy="661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4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Real-Time Footprint Counter </a:t>
            </a:r>
            <a:r>
              <a:rPr lang="en-US" sz="410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👣</a:t>
            </a:r>
            <a:endParaRPr lang="en-US" sz="4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15" y="2251710"/>
            <a:ext cx="8379381" cy="46767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9418" y="2026801"/>
            <a:ext cx="3712726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Activity Tracking Integration</a:t>
            </a:r>
            <a:endParaRPr lang="en-US" sz="2400" b="1" dirty="0"/>
          </a:p>
        </p:txBody>
      </p:sp>
      <p:sp>
        <p:nvSpPr>
          <p:cNvPr id="5" name="Text 2"/>
          <p:cNvSpPr/>
          <p:nvPr/>
        </p:nvSpPr>
        <p:spPr>
          <a:xfrm>
            <a:off x="9629418" y="2546509"/>
            <a:ext cx="4276368" cy="964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 wellness dashboard includes a real-time footprint counter that displays the number of steps taken throughout the day</a:t>
            </a:r>
            <a:r>
              <a:rPr lang="en-US" sz="16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29418" y="3704153"/>
            <a:ext cx="2614970" cy="326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How It Works</a:t>
            </a:r>
            <a:endParaRPr lang="en-US" sz="2050" b="1" dirty="0"/>
          </a:p>
        </p:txBody>
      </p:sp>
      <p:sp>
        <p:nvSpPr>
          <p:cNvPr id="7" name="Text 4"/>
          <p:cNvSpPr/>
          <p:nvPr/>
        </p:nvSpPr>
        <p:spPr>
          <a:xfrm>
            <a:off x="9629418" y="4223861"/>
            <a:ext cx="4276368" cy="1810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Connects to device sensors or fitness trackers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Updates step count in real time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Tracks daily activity goals</a:t>
            </a:r>
            <a:endParaRPr lang="en-US" sz="160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Displays weekly trends and patterns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29418" y="6207919"/>
            <a:ext cx="4276368" cy="964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Encourages healthy lifestyle choices through continuous activity monitoring and goal achievement notifications.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1070372"/>
            <a:ext cx="5670590" cy="716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Theme System </a:t>
            </a:r>
            <a:r>
              <a:rPr lang="en-US" sz="44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🌙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405553" y="2191088"/>
            <a:ext cx="6624638" cy="1730812"/>
          </a:xfrm>
          <a:prstGeom prst="roundRect">
            <a:avLst>
              <a:gd name="adj" fmla="val 1965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1268" y="2384227"/>
            <a:ext cx="29877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Light Theme</a:t>
            </a:r>
            <a:endParaRPr lang="en-US" sz="2400" b="1" dirty="0"/>
          </a:p>
        </p:txBody>
      </p:sp>
      <p:sp>
        <p:nvSpPr>
          <p:cNvPr id="6" name="Text 3"/>
          <p:cNvSpPr/>
          <p:nvPr/>
        </p:nvSpPr>
        <p:spPr>
          <a:xfrm>
            <a:off x="641268" y="2874645"/>
            <a:ext cx="6092041" cy="700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Bright, clean interface optimized for daytime use with high contrast for readability in well-lit environments.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05553" y="3995686"/>
            <a:ext cx="6624639" cy="1730812"/>
          </a:xfrm>
          <a:prstGeom prst="roundRect">
            <a:avLst>
              <a:gd name="adj" fmla="val 19658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1268" y="4218860"/>
            <a:ext cx="2987757" cy="386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Dark Theme</a:t>
            </a:r>
            <a:endParaRPr lang="en-US" sz="2400" b="1" dirty="0"/>
          </a:p>
        </p:txBody>
      </p:sp>
      <p:sp>
        <p:nvSpPr>
          <p:cNvPr id="9" name="Text 6"/>
          <p:cNvSpPr/>
          <p:nvPr/>
        </p:nvSpPr>
        <p:spPr>
          <a:xfrm>
            <a:off x="641268" y="4832271"/>
            <a:ext cx="6092041" cy="546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Reduced eye strain during nighttime use with darker color palette that saves battery on OLED displays.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1" y="6070520"/>
            <a:ext cx="6369009" cy="1313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Users can switch between themes instantly, and the entire website background, text colors, and components update to match the selected theme.</a:t>
            </a:r>
            <a:endParaRPr lang="en-US" sz="1750" dirty="0"/>
          </a:p>
        </p:txBody>
      </p:sp>
      <p:sp>
        <p:nvSpPr>
          <p:cNvPr id="11" name="AutoShape 2">
            <a:extLst>
              <a:ext uri="{FF2B5EF4-FFF2-40B4-BE49-F238E27FC236}">
                <a16:creationId xmlns:a16="http://schemas.microsoft.com/office/drawing/2014/main" id="{83BFDC7D-D065-47B5-B065-4A084894BD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F546BD-F793-43A1-AF8E-B781841C7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907" y="1786771"/>
            <a:ext cx="6957776" cy="4910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1272"/>
            <a:ext cx="87008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Admin Dashboard Capabilities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444514" y="1856852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6464" y="18780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View A </a:t>
            </a:r>
            <a:r>
              <a:rPr lang="en-US" sz="2200" b="1" dirty="0" err="1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ll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Users</a:t>
            </a:r>
            <a:endParaRPr lang="en-US" sz="2200" b="1" dirty="0"/>
          </a:p>
        </p:txBody>
      </p:sp>
      <p:sp>
        <p:nvSpPr>
          <p:cNvPr id="5" name="Text 2"/>
          <p:cNvSpPr/>
          <p:nvPr/>
        </p:nvSpPr>
        <p:spPr>
          <a:xfrm>
            <a:off x="1276464" y="2322706"/>
            <a:ext cx="330815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Access complete user profiles, health data, and interaction history</a:t>
            </a:r>
            <a:endParaRPr lang="en-US" sz="1750" b="1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507608" y="397169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6463" y="39376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Monitor Chat Logs</a:t>
            </a:r>
            <a:endParaRPr lang="en-US" sz="2200" b="1" dirty="0"/>
          </a:p>
        </p:txBody>
      </p:sp>
      <p:sp>
        <p:nvSpPr>
          <p:cNvPr id="8" name="Text 4"/>
          <p:cNvSpPr/>
          <p:nvPr/>
        </p:nvSpPr>
        <p:spPr>
          <a:xfrm>
            <a:off x="1276464" y="4403633"/>
            <a:ext cx="302240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Review all conversations between users and the AI chatbot</a:t>
            </a:r>
            <a:endParaRPr lang="en-US" sz="1750" b="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9181879" y="612810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27992" y="6157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Track AI Usage</a:t>
            </a:r>
            <a:endParaRPr lang="en-US" sz="2200" b="1" dirty="0"/>
          </a:p>
        </p:txBody>
      </p:sp>
      <p:sp>
        <p:nvSpPr>
          <p:cNvPr id="11" name="Text 6"/>
          <p:cNvSpPr/>
          <p:nvPr/>
        </p:nvSpPr>
        <p:spPr>
          <a:xfrm>
            <a:off x="10027992" y="6634261"/>
            <a:ext cx="2963607" cy="7343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Monitor AI model performance and response patterns</a:t>
            </a:r>
            <a:endParaRPr lang="en-US" sz="1750" b="1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473157" y="6086536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3621" y="6086536"/>
            <a:ext cx="3022404" cy="26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View Reported Issues</a:t>
            </a:r>
            <a:endParaRPr lang="en-US" sz="2200" b="1" dirty="0"/>
          </a:p>
        </p:txBody>
      </p:sp>
      <p:sp>
        <p:nvSpPr>
          <p:cNvPr id="14" name="Text 8"/>
          <p:cNvSpPr/>
          <p:nvPr/>
        </p:nvSpPr>
        <p:spPr>
          <a:xfrm>
            <a:off x="1323621" y="6576955"/>
            <a:ext cx="3129626" cy="821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Identify and address user-reported problems promptly</a:t>
            </a:r>
            <a:endParaRPr lang="en-US" sz="1750" b="1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5105265" y="6300296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47340" y="6143612"/>
            <a:ext cx="3672697" cy="535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System Statistics</a:t>
            </a:r>
            <a:endParaRPr lang="en-US" sz="2200" b="1" dirty="0"/>
          </a:p>
        </p:txBody>
      </p:sp>
      <p:sp>
        <p:nvSpPr>
          <p:cNvPr id="17" name="Text 10"/>
          <p:cNvSpPr/>
          <p:nvPr/>
        </p:nvSpPr>
        <p:spPr>
          <a:xfrm>
            <a:off x="5947340" y="6576955"/>
            <a:ext cx="2565070" cy="1190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Monitor uptime, response times, and platform performance</a:t>
            </a:r>
            <a:endParaRPr lang="en-US" sz="175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E935993-3798-4151-BF61-96A152DC9B2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49591" y="1534524"/>
            <a:ext cx="8956523" cy="42725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5434"/>
            <a:ext cx="700385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Admin Chatbot Features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727841"/>
            <a:ext cx="4196358" cy="2955250"/>
          </a:xfrm>
          <a:prstGeom prst="roundRect">
            <a:avLst>
              <a:gd name="adj" fmla="val 115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224" y="2962275"/>
            <a:ext cx="680442" cy="68044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215390" y="3149322"/>
            <a:ext cx="306110" cy="30611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28224" y="3869531"/>
            <a:ext cx="308848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Floating Chatbot Icon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028224" y="435995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Always-accessible chat interface on the admin dashboard for instant AI testing</a:t>
            </a:r>
            <a:endParaRPr lang="en-US" sz="1750" dirty="0"/>
          </a:p>
        </p:txBody>
      </p:sp>
      <p:sp>
        <p:nvSpPr>
          <p:cNvPr id="8" name="Shape 4"/>
          <p:cNvSpPr/>
          <p:nvPr/>
        </p:nvSpPr>
        <p:spPr>
          <a:xfrm>
            <a:off x="5216962" y="2727841"/>
            <a:ext cx="4196358" cy="2955250"/>
          </a:xfrm>
          <a:prstGeom prst="roundRect">
            <a:avLst>
              <a:gd name="adj" fmla="val 115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396" y="2962275"/>
            <a:ext cx="680442" cy="68044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>
            <a:off x="5638562" y="3149322"/>
            <a:ext cx="306110" cy="30611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51396" y="3869531"/>
            <a:ext cx="309931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Quick Chatbot Access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51396" y="435995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Test chatbot responses without navigating away from the current admin page</a:t>
            </a:r>
            <a:endParaRPr lang="en-US" sz="1750" dirty="0"/>
          </a:p>
        </p:txBody>
      </p:sp>
      <p:sp>
        <p:nvSpPr>
          <p:cNvPr id="13" name="Shape 7"/>
          <p:cNvSpPr/>
          <p:nvPr/>
        </p:nvSpPr>
        <p:spPr>
          <a:xfrm>
            <a:off x="9640133" y="2727841"/>
            <a:ext cx="4196358" cy="2955250"/>
          </a:xfrm>
          <a:prstGeom prst="roundRect">
            <a:avLst>
              <a:gd name="adj" fmla="val 1151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74568" y="2962275"/>
            <a:ext cx="680442" cy="680442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10061734" y="3149322"/>
            <a:ext cx="306110" cy="30611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74568" y="38695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Instant AI Testing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74568" y="4359950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Validate chatbot responses and AI accuracy in real-time before deployment</a:t>
            </a:r>
            <a:endParaRPr lang="en-US" sz="1750" dirty="0"/>
          </a:p>
        </p:txBody>
      </p:sp>
      <p:sp>
        <p:nvSpPr>
          <p:cNvPr id="18" name="Text 10"/>
          <p:cNvSpPr/>
          <p:nvPr/>
        </p:nvSpPr>
        <p:spPr>
          <a:xfrm>
            <a:off x="793790" y="593824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These admin page improvements allow administrators to test chatbot responses easily, ensuring accuracy and reliability before responses reach end users.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105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Impact &amp; Benefits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187297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1872972"/>
            <a:ext cx="121920" cy="17308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2524" y="21302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⏱️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Saves Time</a:t>
            </a:r>
            <a:endParaRPr lang="en-US" sz="2200" b="1" dirty="0"/>
          </a:p>
        </p:txBody>
      </p:sp>
      <p:sp>
        <p:nvSpPr>
          <p:cNvPr id="6" name="Text 3"/>
          <p:cNvSpPr/>
          <p:nvPr/>
        </p:nvSpPr>
        <p:spPr>
          <a:xfrm>
            <a:off x="1142524" y="262068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Instant AI responses eliminate waiting periods and reduce administrative workload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28548" y="187297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1872972"/>
            <a:ext cx="121920" cy="17308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7282" y="2130266"/>
            <a:ext cx="37040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🏥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Reduces Physical Visits</a:t>
            </a:r>
            <a:endParaRPr lang="en-US" sz="2200" b="1" dirty="0"/>
          </a:p>
        </p:txBody>
      </p:sp>
      <p:sp>
        <p:nvSpPr>
          <p:cNvPr id="10" name="Text 6"/>
          <p:cNvSpPr/>
          <p:nvPr/>
        </p:nvSpPr>
        <p:spPr>
          <a:xfrm>
            <a:off x="7777282" y="262068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Addresses minor health concerns remotely, reserving clinic visits for serious issues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3830598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830598"/>
            <a:ext cx="121920" cy="17308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2524" y="4087892"/>
            <a:ext cx="43826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📚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Improves Health Awareness</a:t>
            </a:r>
            <a:endParaRPr lang="en-US" sz="2200" b="1" dirty="0"/>
          </a:p>
        </p:txBody>
      </p:sp>
      <p:sp>
        <p:nvSpPr>
          <p:cNvPr id="14" name="Text 9"/>
          <p:cNvSpPr/>
          <p:nvPr/>
        </p:nvSpPr>
        <p:spPr>
          <a:xfrm>
            <a:off x="1142524" y="4578310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Educational content and proactive alerts increase user health literacy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28548" y="3830598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3830598"/>
            <a:ext cx="121920" cy="17308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777282" y="40878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🌐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24/7 Accessible</a:t>
            </a:r>
            <a:endParaRPr lang="en-US" sz="2200" b="1" dirty="0"/>
          </a:p>
        </p:txBody>
      </p:sp>
      <p:sp>
        <p:nvSpPr>
          <p:cNvPr id="18" name="Text 12"/>
          <p:cNvSpPr/>
          <p:nvPr/>
        </p:nvSpPr>
        <p:spPr>
          <a:xfrm>
            <a:off x="7777282" y="4578310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Available anytime, anywhere—users get support on-demand without time constraints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93790" y="578822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5788223"/>
            <a:ext cx="121920" cy="173081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2524" y="60455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🧑‍🤝‍🧑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Global Support</a:t>
            </a:r>
            <a:endParaRPr lang="en-US" sz="2200" b="1" dirty="0"/>
          </a:p>
        </p:txBody>
      </p:sp>
      <p:sp>
        <p:nvSpPr>
          <p:cNvPr id="22" name="Text 15"/>
          <p:cNvSpPr/>
          <p:nvPr/>
        </p:nvSpPr>
        <p:spPr>
          <a:xfrm>
            <a:off x="1142524" y="6535936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Multi-language support enables serving users across different regions and time zones</a:t>
            </a:r>
            <a:endParaRPr lang="en-US" sz="1750" dirty="0"/>
          </a:p>
        </p:txBody>
      </p:sp>
      <p:sp>
        <p:nvSpPr>
          <p:cNvPr id="23" name="Shape 16"/>
          <p:cNvSpPr/>
          <p:nvPr/>
        </p:nvSpPr>
        <p:spPr>
          <a:xfrm>
            <a:off x="7428548" y="578822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FFFFF"/>
          </a:solidFill>
          <a:ln w="30480">
            <a:solidFill>
              <a:srgbClr val="B3D5E4"/>
            </a:solidFill>
            <a:prstDash val="solid"/>
          </a:ln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8067" y="5788223"/>
            <a:ext cx="121920" cy="173081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777282" y="6045518"/>
            <a:ext cx="34206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📈 </a:t>
            </a:r>
            <a:r>
              <a:rPr lang="en-US" sz="2200" b="1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Promotes Prevention</a:t>
            </a:r>
            <a:endParaRPr lang="en-US" sz="2200" b="1" dirty="0"/>
          </a:p>
        </p:txBody>
      </p:sp>
      <p:sp>
        <p:nvSpPr>
          <p:cNvPr id="26" name="Text 18"/>
          <p:cNvSpPr/>
          <p:nvPr/>
        </p:nvSpPr>
        <p:spPr>
          <a:xfrm>
            <a:off x="7777282" y="6535936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Proactive monitoring and health tips encourage preventive care over reactive treatment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30298"/>
            <a:ext cx="82036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Advanced Health Monitoring</a:t>
            </a:r>
            <a:endParaRPr lang="en-US" sz="44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2592705"/>
            <a:ext cx="4196358" cy="2039422"/>
          </a:xfrm>
          <a:prstGeom prst="roundRect">
            <a:avLst>
              <a:gd name="adj" fmla="val 1668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827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⚖️ BMI Calculator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31755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Tracks body mass index and health status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592705"/>
            <a:ext cx="4196358" cy="2039422"/>
          </a:xfrm>
          <a:prstGeom prst="roundRect">
            <a:avLst>
              <a:gd name="adj" fmla="val 1668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827139"/>
            <a:ext cx="372749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🍎 Diet Recommendations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671888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Suggests personalized healthy meal plans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592705"/>
            <a:ext cx="4196358" cy="2039422"/>
          </a:xfrm>
          <a:prstGeom prst="roundRect">
            <a:avLst>
              <a:gd name="adj" fmla="val 1668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8271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🔥 Calorie Tracker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317558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Monitors daily calorie intake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858941"/>
            <a:ext cx="6407944" cy="1322189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09337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😴 Sleep Tracker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58379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Tracks sleep patterns and quality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858941"/>
            <a:ext cx="6407944" cy="1322189"/>
          </a:xfrm>
          <a:prstGeom prst="roundRect">
            <a:avLst>
              <a:gd name="adj" fmla="val 25733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093375"/>
            <a:ext cx="31528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❤️ Heart Rate Monitor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583793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Displays heart health data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4362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These features help users maintain a balanced and healthy lifestyle through data-driven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6208" y="643771"/>
            <a:ext cx="7011233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Future Development Roadmap</a:t>
            </a:r>
            <a:endParaRPr lang="en-US" sz="35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303651" y="1493520"/>
            <a:ext cx="22860" cy="609219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  <a:ln/>
        </p:spPr>
      </p:sp>
      <p:sp>
        <p:nvSpPr>
          <p:cNvPr id="4" name="Shape 2"/>
          <p:cNvSpPr/>
          <p:nvPr/>
        </p:nvSpPr>
        <p:spPr>
          <a:xfrm>
            <a:off x="6594515" y="1684853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  <a:ln/>
        </p:spPr>
      </p:sp>
      <p:sp>
        <p:nvSpPr>
          <p:cNvPr id="5" name="Shape 3"/>
          <p:cNvSpPr/>
          <p:nvPr/>
        </p:nvSpPr>
        <p:spPr>
          <a:xfrm>
            <a:off x="7112318" y="1493520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79945" y="1527334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1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82246" y="1555432"/>
            <a:ext cx="2731651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🧬 Wearable Integration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96208" y="1930479"/>
            <a:ext cx="531768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Connect with smartwatches and fitness bands for automatic health data synchronization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494984" y="2692241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  <a:ln/>
        </p:spPr>
      </p:sp>
      <p:sp>
        <p:nvSpPr>
          <p:cNvPr id="10" name="Shape 8"/>
          <p:cNvSpPr/>
          <p:nvPr/>
        </p:nvSpPr>
        <p:spPr>
          <a:xfrm>
            <a:off x="7112318" y="2500908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79945" y="2534722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2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16265" y="2562820"/>
            <a:ext cx="2724507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🧑‍⚕️ Doctor Consultations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16265" y="2937867"/>
            <a:ext cx="531780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Seamless integration with healthcare providers for video consultations and medical advice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94515" y="3587353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2318" y="3396020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79945" y="3429833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3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783330" y="3457932"/>
            <a:ext cx="2630567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📊 AI Health Prediction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6208" y="3832979"/>
            <a:ext cx="531768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Advanced predictive analytics using machine learning to identify potential health risks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494984" y="4482584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2318" y="4291251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9945" y="4325064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4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16265" y="4353163"/>
            <a:ext cx="2253139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🗣️ Voice Interaction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16265" y="4728210"/>
            <a:ext cx="5317808" cy="258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Voice-based chatbot for hands-free health assistance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94515" y="5377815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  <a:ln/>
        </p:spPr>
      </p:sp>
      <p:sp>
        <p:nvSpPr>
          <p:cNvPr id="25" name="Shape 23"/>
          <p:cNvSpPr/>
          <p:nvPr/>
        </p:nvSpPr>
        <p:spPr>
          <a:xfrm>
            <a:off x="7112318" y="5186482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9945" y="5220295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5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160758" y="5248394"/>
            <a:ext cx="2253139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📱 Mobile App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96208" y="5623441"/>
            <a:ext cx="531768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Dedicated iOS and Android apps for enhanced mobile experience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4984" y="6273046"/>
            <a:ext cx="540663" cy="22860"/>
          </a:xfrm>
          <a:prstGeom prst="roundRect">
            <a:avLst>
              <a:gd name="adj" fmla="val 1182812"/>
            </a:avLst>
          </a:prstGeom>
          <a:solidFill>
            <a:srgbClr val="B3D5E4"/>
          </a:solidFill>
          <a:ln/>
        </p:spPr>
      </p:sp>
      <p:sp>
        <p:nvSpPr>
          <p:cNvPr id="30" name="Shape 28"/>
          <p:cNvSpPr/>
          <p:nvPr/>
        </p:nvSpPr>
        <p:spPr>
          <a:xfrm>
            <a:off x="7112318" y="6081713"/>
            <a:ext cx="405527" cy="405527"/>
          </a:xfrm>
          <a:prstGeom prst="roundRect">
            <a:avLst>
              <a:gd name="adj" fmla="val 66676"/>
            </a:avLst>
          </a:prstGeom>
          <a:solidFill>
            <a:srgbClr val="E6F7FF"/>
          </a:solidFill>
          <a:ln w="7620">
            <a:solidFill>
              <a:srgbClr val="B3D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9945" y="6115526"/>
            <a:ext cx="270272" cy="3378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210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6</a:t>
            </a:r>
            <a:endParaRPr lang="en-US" sz="21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16265" y="6143625"/>
            <a:ext cx="2253139" cy="289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latin typeface="Arial" panose="020B0604020202020204" pitchFamily="34" charset="0"/>
                <a:ea typeface="Alexandria Medium" pitchFamily="34" charset="-122"/>
                <a:cs typeface="Arial" panose="020B0604020202020204" pitchFamily="34" charset="0"/>
              </a:rPr>
              <a:t>🧠 Personalized AI</a:t>
            </a:r>
            <a:endParaRPr lang="en-US" sz="175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16265" y="6518672"/>
            <a:ext cx="5317808" cy="517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b="1" dirty="0">
                <a:latin typeface="Arial" panose="020B0604020202020204" pitchFamily="34" charset="0"/>
                <a:ea typeface="Manrope" pitchFamily="34" charset="-122"/>
                <a:cs typeface="Arial" panose="020B0604020202020204" pitchFamily="34" charset="0"/>
              </a:rPr>
              <a:t>Improved AI personalization using user data and behavior patterns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020" y="312772"/>
            <a:ext cx="5069371" cy="76040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273969"/>
            <a:ext cx="7556421" cy="1236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dirty="0"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4" name="Text 1"/>
          <p:cNvSpPr/>
          <p:nvPr/>
        </p:nvSpPr>
        <p:spPr>
          <a:xfrm>
            <a:off x="1259681" y="2923935"/>
            <a:ext cx="72162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Making healthcare smarter, faster, and more accessible for everyone.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763310" y="2668785"/>
            <a:ext cx="30480" cy="1236107"/>
          </a:xfrm>
          <a:prstGeom prst="rect">
            <a:avLst/>
          </a:prstGeom>
          <a:solidFill>
            <a:srgbClr val="AAE4FE"/>
          </a:solidFill>
          <a:ln/>
        </p:spPr>
      </p:sp>
      <p:sp>
        <p:nvSpPr>
          <p:cNvPr id="6" name="Text 3"/>
          <p:cNvSpPr/>
          <p:nvPr/>
        </p:nvSpPr>
        <p:spPr>
          <a:xfrm>
            <a:off x="763310" y="426791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WellBot is an intelligent AI-powered healthcare assistant that combines chatbot, analytics, and health tracking in one platform. It uses hybrid AI models for accurate and efficient responses while remaining user-friendly, secure, and scalable.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793790" y="62297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b="1" dirty="0">
                <a:latin typeface="Manrope" pitchFamily="34" charset="0"/>
                <a:ea typeface="Manrope" pitchFamily="34" charset="-122"/>
                <a:cs typeface="Manrope" pitchFamily="34" charset="-120"/>
              </a:rPr>
              <a:t>Together, we're building a healthier future—one conversation at a time.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93</TotalTime>
  <Words>1198</Words>
  <Application>Microsoft Office PowerPoint</Application>
  <PresentationFormat>Custom</PresentationFormat>
  <Paragraphs>164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Wingdings</vt:lpstr>
      <vt:lpstr>Calibri</vt:lpstr>
      <vt:lpstr>Alexandria Medium</vt:lpstr>
      <vt:lpstr>Corbel</vt:lpstr>
      <vt:lpstr>Arial Black</vt:lpstr>
      <vt:lpstr>Times New Roman</vt:lpstr>
      <vt:lpstr>Manrope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Apeksha Jain</dc:creator>
  <cp:lastModifiedBy>ADMIN</cp:lastModifiedBy>
  <cp:revision>16</cp:revision>
  <dcterms:created xsi:type="dcterms:W3CDTF">2026-03-19T06:42:39Z</dcterms:created>
  <dcterms:modified xsi:type="dcterms:W3CDTF">2026-03-20T07:44:35Z</dcterms:modified>
</cp:coreProperties>
</file>