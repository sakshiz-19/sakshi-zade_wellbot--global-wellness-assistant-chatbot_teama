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Mona Sans Semi Bold" pitchFamily="34" charset="0"/>
      <p:regular r:id="rId17"/>
    </p:embeddedFont>
    <p:embeddedFont>
      <p:font typeface="Mona Sans Semi Bold" pitchFamily="34" charset="-122"/>
      <p:regular r:id="rId18"/>
    </p:embeddedFont>
    <p:embeddedFont>
      <p:font typeface="Mona Sans Semi Bold" pitchFamily="34" charset="-120"/>
      <p:regular r:id="rId19"/>
    </p:embeddedFont>
    <p:embeddedFont>
      <p:font typeface="Funnel Sans" pitchFamily="34" charset="0"/>
      <p:regular r:id="rId20"/>
    </p:embeddedFont>
    <p:embeddedFont>
      <p:font typeface="Funnel Sans" pitchFamily="34" charset="-122"/>
      <p:regular r:id="rId21"/>
    </p:embeddedFont>
    <p:embeddedFont>
      <p:font typeface="Funnel Sans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5.xml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image" Target="../media/image24.sv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1.xml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sv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546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WellBot – AI Powered Wellness Chatbot Platform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Intelligent Healthcare Assistant with Hybrid AI and Real-Time Analytics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Avinash Gouda | Healthcare Technology Course | 2024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7320" y="1507212"/>
            <a:ext cx="4273748" cy="5342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Project Overview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79583"/>
            <a:ext cx="7521178" cy="4197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63075" y="2388870"/>
            <a:ext cx="2136815" cy="2670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What is WellBot?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363075" y="2784753"/>
            <a:ext cx="3857387" cy="14387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 AI-powered wellness assistant that combines intelligent chatbot technology with prescription analysis and comprehensive health monitoring. WellBot serves as a centralized platform for health guidance, symptom assessment, and personalized wellness tracking.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63075" y="4352330"/>
            <a:ext cx="2136815" cy="2670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363075" y="4748213"/>
            <a:ext cx="3857387" cy="19035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wellness chatbot with multi-model support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Prescription image analysis and interpretation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symptom checker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Nutrition and wellness guidance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user dashboard with activity tracking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 monitoring and analytics system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585" y="1198007"/>
            <a:ext cx="3497580" cy="437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89585" y="1764625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7103" y="1912144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373B48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75" y="2027515"/>
            <a:ext cx="188833" cy="188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7103" y="2418040"/>
            <a:ext cx="1927979" cy="2185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Prescription Confusion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37103" y="2688312"/>
            <a:ext cx="7869793" cy="180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Patients struggle to understand complex medical prescriptions and dosage instructions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9585" y="3102888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7103" y="3250406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373B48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475" y="3365778"/>
            <a:ext cx="188833" cy="1888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103" y="3756303"/>
            <a:ext cx="1748790" cy="2185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Limited Access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37103" y="4026575"/>
            <a:ext cx="7869793" cy="180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24/7 access to quick, reliable health advice when medical professionals are unavailable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9585" y="4441150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7103" y="4588669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373B48"/>
          </a:solidFill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475" y="4704040"/>
            <a:ext cx="188833" cy="1888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7103" y="5094565"/>
            <a:ext cx="1748790" cy="2185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 Centralization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37103" y="5364837"/>
            <a:ext cx="7869793" cy="180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Lack of unified AI wellness platform integrating chat, tracking, and analytics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89585" y="5779413"/>
            <a:ext cx="8164830" cy="1252061"/>
          </a:xfrm>
          <a:prstGeom prst="roundRect">
            <a:avLst>
              <a:gd name="adj" fmla="val 469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7103" y="5926931"/>
            <a:ext cx="419695" cy="419695"/>
          </a:xfrm>
          <a:prstGeom prst="roundRect">
            <a:avLst>
              <a:gd name="adj" fmla="val 21785072"/>
            </a:avLst>
          </a:prstGeom>
          <a:solidFill>
            <a:srgbClr val="373B48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475" y="6042303"/>
            <a:ext cx="188833" cy="18883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7103" y="6432828"/>
            <a:ext cx="1748790" cy="2185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 Personalization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7103" y="6703100"/>
            <a:ext cx="7869793" cy="1808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Absence of continuous, personalized health tracking and wellness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1279"/>
            <a:ext cx="739223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Proposed Solution: WellBot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873687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187368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Wellness Chatbot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2364105"/>
            <a:ext cx="541567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Intelligent conversational interface powered by multiple AI models for accurate health guidance and symptom assessment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187368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1873687"/>
            <a:ext cx="288333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Prescription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2364105"/>
            <a:ext cx="541579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Image recognition technology that reads and interprets prescription details, providing clear dosage instructions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906441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7720" y="39064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Symptom Checker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57720" y="4396859"/>
            <a:ext cx="541567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Guided assessment tool that evaluates symptoms and provides preliminary health insights with appropriate recommendations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3906441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39064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Nutrition Guidance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4396859"/>
            <a:ext cx="541579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Personalized dietary recommendations based on user health profile and wellness goals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939195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57720" y="59391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Admin Monitoring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757720" y="6429613"/>
            <a:ext cx="5415677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analytics dashboard for administrators to track system performance and user engagement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6884" y="5939195"/>
            <a:ext cx="680442" cy="6804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20814" y="593919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Health Tracking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420814" y="6429613"/>
            <a:ext cx="541579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wellness monitoring including mood tracking, nutrition logging, and activity measurement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577" y="719376"/>
            <a:ext cx="4577239" cy="5720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98577" y="1586984"/>
            <a:ext cx="12633127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WellBot employs a </a:t>
            </a:r>
            <a:r>
              <a:rPr lang="en-US" sz="1400" b="1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hybrid AI architecture</a:t>
            </a: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that routes queries through multiple language models to optimize response quality and cost efficiency.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77" y="2017871"/>
            <a:ext cx="915353" cy="10984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61686" y="2200870"/>
            <a:ext cx="2288619" cy="285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Interface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61686" y="2575441"/>
            <a:ext cx="11570018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Responsive frontend dashboard for patients and administrators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77" y="3116342"/>
            <a:ext cx="915353" cy="10984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61686" y="3299341"/>
            <a:ext cx="2288619" cy="285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Flask Backend API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061686" y="3673912"/>
            <a:ext cx="11570018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RESTful interface handling requests and data processing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77" y="4214813"/>
            <a:ext cx="915353" cy="10984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61686" y="4397812"/>
            <a:ext cx="2288619" cy="285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Model Router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061686" y="4772382"/>
            <a:ext cx="11570018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Intelligent routing system selecting optimal AI engine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77" y="5313283"/>
            <a:ext cx="915353" cy="10984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061686" y="5496282"/>
            <a:ext cx="2288619" cy="285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Multi-Model AI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2061686" y="5870853"/>
            <a:ext cx="11570018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Groq, Gemini, Ollama, and OpenAI integration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77" y="6411754"/>
            <a:ext cx="915353" cy="109847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061686" y="6594753"/>
            <a:ext cx="2288619" cy="285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MongoDB Storage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2061686" y="6969323"/>
            <a:ext cx="11570018" cy="2646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Secure document database for user data and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2987" y="1183124"/>
            <a:ext cx="4765834" cy="481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Dashboard Features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987" y="2540318"/>
            <a:ext cx="6787039" cy="37880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3883" y="1927265"/>
            <a:ext cx="2791063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Core Dashboard Components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63883" y="2368332"/>
            <a:ext cx="77033" cy="77033"/>
          </a:xfrm>
          <a:prstGeom prst="roundRect">
            <a:avLst>
              <a:gd name="adj" fmla="val 593512"/>
            </a:avLst>
          </a:prstGeom>
          <a:solidFill>
            <a:srgbClr val="373B48"/>
          </a:solidFill>
        </p:spPr>
      </p:sp>
      <p:sp>
        <p:nvSpPr>
          <p:cNvPr id="6" name="Text 3"/>
          <p:cNvSpPr/>
          <p:nvPr/>
        </p:nvSpPr>
        <p:spPr>
          <a:xfrm>
            <a:off x="9345811" y="2286357"/>
            <a:ext cx="1928217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Mood Tracking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45811" y="2632353"/>
            <a:ext cx="3298984" cy="414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Daily emotional wellness logging with trend visualization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63883" y="3338691"/>
            <a:ext cx="77033" cy="77033"/>
          </a:xfrm>
          <a:prstGeom prst="roundRect">
            <a:avLst>
              <a:gd name="adj" fmla="val 593512"/>
            </a:avLst>
          </a:prstGeom>
          <a:solidFill>
            <a:srgbClr val="373B48"/>
          </a:solidFill>
        </p:spPr>
      </p:sp>
      <p:sp>
        <p:nvSpPr>
          <p:cNvPr id="9" name="Text 6"/>
          <p:cNvSpPr/>
          <p:nvPr/>
        </p:nvSpPr>
        <p:spPr>
          <a:xfrm>
            <a:off x="9345811" y="3256717"/>
            <a:ext cx="1928217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Nutrition Guide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45811" y="3602712"/>
            <a:ext cx="3298984" cy="414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Meal logging and dietary recommendations based on health profile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63883" y="4309050"/>
            <a:ext cx="77033" cy="77033"/>
          </a:xfrm>
          <a:prstGeom prst="roundRect">
            <a:avLst>
              <a:gd name="adj" fmla="val 593512"/>
            </a:avLst>
          </a:prstGeom>
          <a:solidFill>
            <a:srgbClr val="373B48"/>
          </a:solidFill>
        </p:spPr>
      </p:sp>
      <p:sp>
        <p:nvSpPr>
          <p:cNvPr id="12" name="Text 9"/>
          <p:cNvSpPr/>
          <p:nvPr/>
        </p:nvSpPr>
        <p:spPr>
          <a:xfrm>
            <a:off x="9345811" y="4227076"/>
            <a:ext cx="1928217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Chatbot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45811" y="4573072"/>
            <a:ext cx="3298984" cy="414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Instant access to health guidance and symptom assessment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63883" y="5279410"/>
            <a:ext cx="77033" cy="77033"/>
          </a:xfrm>
          <a:prstGeom prst="roundRect">
            <a:avLst>
              <a:gd name="adj" fmla="val 593512"/>
            </a:avLst>
          </a:prstGeom>
          <a:solidFill>
            <a:srgbClr val="373B48"/>
          </a:solidFill>
        </p:spPr>
      </p:sp>
      <p:sp>
        <p:nvSpPr>
          <p:cNvPr id="15" name="Text 12"/>
          <p:cNvSpPr/>
          <p:nvPr/>
        </p:nvSpPr>
        <p:spPr>
          <a:xfrm>
            <a:off x="9345811" y="5197435"/>
            <a:ext cx="1928217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Symptom Checker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45811" y="5543431"/>
            <a:ext cx="3298984" cy="414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Step-by-step health assessment tool with severity indicators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63883" y="6249769"/>
            <a:ext cx="77033" cy="77033"/>
          </a:xfrm>
          <a:prstGeom prst="roundRect">
            <a:avLst>
              <a:gd name="adj" fmla="val 593512"/>
            </a:avLst>
          </a:prstGeom>
          <a:solidFill>
            <a:srgbClr val="373B48"/>
          </a:solidFill>
        </p:spPr>
      </p:sp>
      <p:sp>
        <p:nvSpPr>
          <p:cNvPr id="18" name="Text 15"/>
          <p:cNvSpPr/>
          <p:nvPr/>
        </p:nvSpPr>
        <p:spPr>
          <a:xfrm>
            <a:off x="9345811" y="6167795"/>
            <a:ext cx="1928217" cy="2411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Profile Management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45811" y="6513790"/>
            <a:ext cx="3298984" cy="4145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Centralized control of health data and 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5938"/>
            <a:ext cx="7556421" cy="14404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New Update 1: Multi-Language System </a:t>
            </a:r>
            <a:r>
              <a:rPr lang="en-US" sz="445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🌍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16518"/>
            <a:ext cx="3664744" cy="2819519"/>
          </a:xfrm>
          <a:prstGeom prst="roundRect">
            <a:avLst>
              <a:gd name="adj" fmla="val 337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7484" y="287381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Language Selection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37484" y="3364230"/>
            <a:ext cx="3150156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can dynamically change the interface language with a single click, making healthcare accessible to diverse populations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616518"/>
            <a:ext cx="3664863" cy="2819519"/>
          </a:xfrm>
          <a:prstGeom prst="roundRect">
            <a:avLst>
              <a:gd name="adj" fmla="val 337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9042" y="2873812"/>
            <a:ext cx="30363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Supported Languages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9042" y="3364230"/>
            <a:ext cx="3150275" cy="16894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English (default)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Hindi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Kannada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Spanish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62851"/>
            <a:ext cx="7556421" cy="1730812"/>
          </a:xfrm>
          <a:prstGeom prst="roundRect">
            <a:avLst>
              <a:gd name="adj" fmla="val 550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484" y="592014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Global Accessibility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484" y="6410563"/>
            <a:ext cx="704183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Breaking language barriers to provide healthcare assistance to users worldwide, regardless of their primary language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6053" y="477322"/>
            <a:ext cx="6364248" cy="5186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New Update 2: Theme System </a:t>
            </a:r>
            <a:r>
              <a:rPr lang="en-US" sz="315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🌙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6053" y="1837730"/>
            <a:ext cx="2014180" cy="251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Light Theme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6053" y="2218253"/>
            <a:ext cx="7089219" cy="39566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6053" y="6303645"/>
            <a:ext cx="7089219" cy="220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Classic light interface optimized for daytime use with reduced eye strain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246037" y="1282065"/>
            <a:ext cx="2014180" cy="2518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Dark Theme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037" y="1662589"/>
            <a:ext cx="3635812" cy="4847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46037" y="6639044"/>
            <a:ext cx="3635812" cy="4407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Sleek dark interface perfect for nighttime use, reducing blue light exposure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756053" y="7311509"/>
            <a:ext cx="11118294" cy="4407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can switch between themes instantly, and the entire website background, components, and text colors update in real-time to match the selected theme.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691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New Updates: Real-Time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24639"/>
            <a:ext cx="7556421" cy="2055614"/>
          </a:xfrm>
          <a:prstGeom prst="roundRect">
            <a:avLst>
              <a:gd name="adj" fmla="val 463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059073"/>
            <a:ext cx="2864763" cy="361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👣</a:t>
            </a: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Footprint Counter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7111"/>
            <a:ext cx="70875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step tracking that updates throughout the day, encouraging users to maintain an active lifestyle with instant feedback on their physical activity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107067"/>
            <a:ext cx="7556421" cy="2055614"/>
          </a:xfrm>
          <a:prstGeom prst="roundRect">
            <a:avLst>
              <a:gd name="adj" fmla="val 463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5341501"/>
            <a:ext cx="2835235" cy="3619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🤖</a:t>
            </a: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 Admin Chatbot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839539"/>
            <a:ext cx="708755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Floating chatbot icon on the admin dashboard provides instant access to AI testing, allowing administrators to quickly verify chatbot responses and system functionality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0442" y="1196459"/>
            <a:ext cx="5323046" cy="4288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Admin Dashboard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580442" y="1832848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Admin Capabilities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0442" y="2157770"/>
            <a:ext cx="137160" cy="137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80442" y="2358509"/>
            <a:ext cx="3096697" cy="15240"/>
          </a:xfrm>
          <a:prstGeom prst="rect">
            <a:avLst/>
          </a:prstGeom>
          <a:solidFill>
            <a:srgbClr val="373B48"/>
          </a:solidFill>
        </p:spPr>
      </p:sp>
      <p:sp>
        <p:nvSpPr>
          <p:cNvPr id="6" name="Text 3"/>
          <p:cNvSpPr/>
          <p:nvPr/>
        </p:nvSpPr>
        <p:spPr>
          <a:xfrm>
            <a:off x="2580442" y="2457569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User Management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80442" y="2754987"/>
            <a:ext cx="3096697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View and manage all registered users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0442" y="3134201"/>
            <a:ext cx="137160" cy="137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80442" y="3334941"/>
            <a:ext cx="3096697" cy="15240"/>
          </a:xfrm>
          <a:prstGeom prst="rect">
            <a:avLst/>
          </a:prstGeom>
          <a:solidFill>
            <a:srgbClr val="373B48"/>
          </a:solidFill>
        </p:spPr>
      </p:sp>
      <p:sp>
        <p:nvSpPr>
          <p:cNvPr id="10" name="Text 6"/>
          <p:cNvSpPr/>
          <p:nvPr/>
        </p:nvSpPr>
        <p:spPr>
          <a:xfrm>
            <a:off x="2580442" y="3434001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Chat Log Monitoring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580442" y="3731419"/>
            <a:ext cx="3096697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conversation history and interactions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0442" y="4110633"/>
            <a:ext cx="137160" cy="1371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80442" y="4311372"/>
            <a:ext cx="3096697" cy="15240"/>
          </a:xfrm>
          <a:prstGeom prst="rect">
            <a:avLst/>
          </a:prstGeom>
          <a:solidFill>
            <a:srgbClr val="373B48"/>
          </a:solidFill>
        </p:spPr>
      </p:sp>
      <p:sp>
        <p:nvSpPr>
          <p:cNvPr id="14" name="Text 9"/>
          <p:cNvSpPr/>
          <p:nvPr/>
        </p:nvSpPr>
        <p:spPr>
          <a:xfrm>
            <a:off x="2580442" y="4410432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AI Usage Analytics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580442" y="4707850"/>
            <a:ext cx="3096697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Track model performance and query patterns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80442" y="5087064"/>
            <a:ext cx="137160" cy="1371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2580442" y="5287804"/>
            <a:ext cx="3096697" cy="15240"/>
          </a:xfrm>
          <a:prstGeom prst="rect">
            <a:avLst/>
          </a:prstGeom>
          <a:solidFill>
            <a:srgbClr val="373B48"/>
          </a:solidFill>
        </p:spPr>
      </p:sp>
      <p:sp>
        <p:nvSpPr>
          <p:cNvPr id="18" name="Text 12"/>
          <p:cNvSpPr/>
          <p:nvPr/>
        </p:nvSpPr>
        <p:spPr>
          <a:xfrm>
            <a:off x="2580442" y="5386864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Issue Reporting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2580442" y="5684282"/>
            <a:ext cx="3096697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View and address reported problems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0442" y="6063496"/>
            <a:ext cx="137160" cy="1371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580442" y="6264235"/>
            <a:ext cx="3096697" cy="15240"/>
          </a:xfrm>
          <a:prstGeom prst="rect">
            <a:avLst/>
          </a:prstGeom>
          <a:solidFill>
            <a:srgbClr val="373B48"/>
          </a:solidFill>
        </p:spPr>
      </p:sp>
      <p:sp>
        <p:nvSpPr>
          <p:cNvPr id="22" name="Text 15"/>
          <p:cNvSpPr/>
          <p:nvPr/>
        </p:nvSpPr>
        <p:spPr>
          <a:xfrm>
            <a:off x="2580442" y="6363295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System Statistics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2580442" y="6660713"/>
            <a:ext cx="3096697" cy="1762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 overall platform health and metrics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9562" y="1981795"/>
            <a:ext cx="6037898" cy="336994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19562" y="5445085"/>
            <a:ext cx="1715453" cy="214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WellBot's Impact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019562" y="5742503"/>
            <a:ext cx="603789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WellBot provides AI-powered healthcare assistance through secure, scalable architecture with real-time health monitoring, multi-language accessibility, and intelligent admin analytics.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019562" y="6188273"/>
            <a:ext cx="6037898" cy="612934"/>
          </a:xfrm>
          <a:prstGeom prst="roundRect">
            <a:avLst>
              <a:gd name="adj" fmla="val 9404"/>
            </a:avLst>
          </a:prstGeom>
          <a:solidFill>
            <a:srgbClr val="D4D6DE"/>
          </a:solidFill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6722" y="6376868"/>
            <a:ext cx="171450" cy="1371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65332" y="6305550"/>
            <a:ext cx="5454968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WellBot aims to make healthcare assistance faster, smarter, and accessible to everyone.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4527</Words>
  <Application>WPS Presentation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Mona Sans Semi Bold</vt:lpstr>
      <vt:lpstr>Mona Sans Semi Bold</vt:lpstr>
      <vt:lpstr>Mona Sans Semi Bold</vt:lpstr>
      <vt:lpstr>Funnel Sans</vt:lpstr>
      <vt:lpstr>Funnel Sans</vt:lpstr>
      <vt:lpstr>Funnel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Sakshi Z</cp:lastModifiedBy>
  <cp:revision>2</cp:revision>
  <dcterms:created xsi:type="dcterms:W3CDTF">2026-03-07T12:15:00Z</dcterms:created>
  <dcterms:modified xsi:type="dcterms:W3CDTF">2026-03-30T13:24:15Z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5F34125FAC65423A928961C3AC56D408_13</vt:lpwstr>
  </property>
  <property fmtid="{D5CDD505-2E9C-101B-9397-08002B2CF9AE}" pid="3" name="KSOProductBuildVer">
    <vt:lpwstr>1033-12.2.0.23196</vt:lpwstr>
  </property>
</Properties>
</file>